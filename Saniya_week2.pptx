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5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  <p:sldId id="271" r:id="rId15"/>
    <p:sldId id="269" r:id="rId16"/>
    <p:sldId id="273" r:id="rId17"/>
    <p:sldId id="272" r:id="rId18"/>
    <p:sldId id="274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BE6E-16CF-3640-9AB3-B7C5CA1BA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81133-843B-7C7B-AC69-A34AA0A6E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A0828-FA6F-53BE-86EC-E149664D1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7AED3-FA03-0340-3B83-EBA0ED52F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31123-5577-1A8B-59F8-E05C0BF5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8652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A175-20FA-E87A-0DBD-C711968F7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97F1D-B3DE-9574-1296-7BA672B45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D83C4-5E52-B285-8EFB-53FE25F7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678F1-7790-D613-84B8-6A0E5EB5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92E9D-922B-77AE-5928-9BA4C82A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82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DC78-EF0F-5C9C-5789-F66A9904E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8D8DE-DBAD-F6BF-257B-3D40D4869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874EA-3E6E-DC2F-985F-3FC3F1062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95BA4-81C0-110A-46E6-9E777EB1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CDEBE-9CBB-5766-8B34-04FC584B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3005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E506A-B347-4207-12B1-D7FA1261F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E055F-127B-91DC-F1D4-A4A97DE78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AD99A-8D46-556F-EE67-DD29A0238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C17BA-C301-2E1E-2E6B-572B8A6B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A9DE2-5411-EBED-175C-AAABE23A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71335-416F-ABF3-98AE-E5640A86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3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2C7C-C4BB-DB1D-B0BA-A5E9033E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B05F7-ABEF-5334-8D2C-DAFA16705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6726B-B231-5BBD-2FEE-871C2EF8A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5EC2-A0F7-186A-F536-1ECA64CDF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CDEABA-C720-12BF-B7CC-1CE1FC840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1C33C3-3645-5A58-009B-B39DE7FB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33632-4E83-1C82-B4D8-38E96CA5E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976E24-C4A8-ECBA-8D41-52443E4E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01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672F-2AFD-3ABD-73F0-CEFCA17F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6652F2-5446-5AA3-801F-70B9936A9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688C4-40B1-8641-D5A0-E928DF8C9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CC8B2-AC16-9698-3CA5-ABF39CE0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3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D17525-FAA0-B558-79F4-EFAFE06E4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05E4A-303A-3631-9FD4-8B800E0D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FA7BA-A835-10B4-929F-735F3FDA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36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87CA-4374-5CBB-034C-24F3E539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3EB5-397D-8F35-81E5-9CE3C295B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147B4-3C2F-7901-B649-2FC7A24FE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60B2E-569F-0703-DA64-377CEF7F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DED23-CC53-31A4-72A7-7FF3F1EF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BB0ED-DC96-F8F0-19B5-93EC2F1A2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27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481A1-9DC4-572D-70DA-C7673AD5F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5A6E8-BA4F-56CD-3CCE-562B85368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C3B12-64FC-CE4D-2062-9719EA89D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A5E87-D4B1-C777-5701-B55643FF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02673-E3E8-844A-F6B5-218D6D346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B37EB-856E-4022-8AD5-A48F57EE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575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1625-549D-1DBA-5BF8-5DD3368E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5EEB26-92FC-BD1C-5241-155E011A2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4EBEA-5B1D-7ECA-EEEC-A306C5D91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A27E3-F695-AFF7-1989-D2831EE9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062C2-DE63-131A-44AE-7A880124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EBDFCB-6227-C96C-5A1C-8EFA5A48EF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1320A-FEDB-D9A2-2C91-E645F85D5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FEA44-5379-1948-340C-50EE6FC5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15F6F-EF8A-48A2-D21E-D3355072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E0AE6-4005-5B3B-8919-037CDB68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437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9AF0-C2E5-0BB6-2314-5E818AD4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0169D-D056-7AAA-60B9-4BDD0A4D4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45C1B-414B-EFB4-F72A-97D1AE321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E3121-A122-4F1E-983B-B61610B35905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F92D9-541D-D98F-9049-79DBD0EB7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3AC12-AE6F-7DB1-A231-8BFB98831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BE037-BC2B-4087-8D7F-269866C1A4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012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worldbank.org/indicator/SE.SEC.ENRR?locations=KZ-US-FI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0CC8-65E7-9E61-1A75-2DDCE2B43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err="1"/>
              <a:t>Lumière</a:t>
            </a:r>
            <a:r>
              <a:rPr lang="fi-FI" dirty="0"/>
              <a:t>; </a:t>
            </a:r>
            <a:r>
              <a:rPr lang="fi-FI" dirty="0" err="1"/>
              <a:t>week</a:t>
            </a:r>
            <a:r>
              <a:rPr lang="fi-FI" dirty="0"/>
              <a:t> 2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6B8C-CB50-6528-6399-ECB233EF77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Young </a:t>
            </a:r>
            <a:r>
              <a:rPr lang="fi-FI" dirty="0" err="1"/>
              <a:t>scholar</a:t>
            </a:r>
            <a:r>
              <a:rPr lang="fi-FI" dirty="0"/>
              <a:t>: </a:t>
            </a:r>
            <a:r>
              <a:rPr lang="fr-FR" dirty="0" err="1"/>
              <a:t>Ashuova</a:t>
            </a:r>
            <a:r>
              <a:rPr lang="fr-FR" dirty="0"/>
              <a:t> </a:t>
            </a:r>
            <a:r>
              <a:rPr lang="fr-FR" b="1" dirty="0" err="1"/>
              <a:t>Saniya</a:t>
            </a:r>
            <a:r>
              <a:rPr lang="fr-FR" dirty="0"/>
              <a:t> </a:t>
            </a:r>
            <a:r>
              <a:rPr lang="fr-FR" dirty="0" err="1"/>
              <a:t>Nurzhankyzy</a:t>
            </a:r>
            <a:endParaRPr lang="fi-FI" dirty="0"/>
          </a:p>
          <a:p>
            <a:r>
              <a:rPr lang="fi-FI" dirty="0" err="1"/>
              <a:t>Mentor</a:t>
            </a:r>
            <a:r>
              <a:rPr lang="fi-FI" dirty="0"/>
              <a:t>: </a:t>
            </a:r>
            <a:r>
              <a:rPr lang="fi-FI" b="1" dirty="0"/>
              <a:t>Joan</a:t>
            </a:r>
            <a:r>
              <a:rPr lang="fi-FI" dirty="0"/>
              <a:t> Damiens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79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116F-A2BA-7DF1-9BB3-FD534B9B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Our</a:t>
            </a:r>
            <a:r>
              <a:rPr lang="fi-FI" dirty="0"/>
              <a:t> </a:t>
            </a:r>
            <a:r>
              <a:rPr lang="fi-FI" dirty="0" err="1"/>
              <a:t>topic</a:t>
            </a:r>
            <a:r>
              <a:rPr lang="fi-FI" dirty="0"/>
              <a:t>: 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6C4F6-A8DA-A83E-692B-F4760FC3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Youth, Gender, and </a:t>
            </a:r>
            <a:r>
              <a:rPr lang="en-US" b="1" dirty="0"/>
              <a:t>Educational Inequality </a:t>
            </a:r>
            <a:r>
              <a:rPr lang="en-US" dirty="0"/>
              <a:t>in Post-Soviet and Emerging Contexts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16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D0782-C7DA-1895-0429-04E1A2782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Education and </a:t>
            </a:r>
            <a:r>
              <a:rPr lang="fi-FI" dirty="0" err="1"/>
              <a:t>social</a:t>
            </a:r>
            <a:r>
              <a:rPr lang="fi-FI" dirty="0"/>
              <a:t> </a:t>
            </a:r>
            <a:r>
              <a:rPr lang="fi-FI" dirty="0" err="1"/>
              <a:t>inequality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9FFE-FCAA-3B14-C068-BDB74A81F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/>
              <a:t>Education: at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corner</a:t>
            </a:r>
            <a:r>
              <a:rPr lang="fi-FI" dirty="0"/>
              <a:t> of personal </a:t>
            </a:r>
            <a:r>
              <a:rPr lang="fi-FI" dirty="0" err="1"/>
              <a:t>advancement</a:t>
            </a:r>
            <a:r>
              <a:rPr lang="fi-FI" dirty="0"/>
              <a:t> and </a:t>
            </a:r>
            <a:r>
              <a:rPr lang="fi-FI" dirty="0" err="1"/>
              <a:t>societal</a:t>
            </a:r>
            <a:r>
              <a:rPr lang="fi-FI" dirty="0"/>
              <a:t> </a:t>
            </a:r>
            <a:r>
              <a:rPr lang="fi-FI" dirty="0" err="1"/>
              <a:t>development</a:t>
            </a:r>
            <a:r>
              <a:rPr lang="fi-FI" dirty="0"/>
              <a:t>. </a:t>
            </a:r>
          </a:p>
          <a:p>
            <a:endParaRPr lang="fi-FI" dirty="0"/>
          </a:p>
          <a:p>
            <a:r>
              <a:rPr lang="fi-FI" dirty="0" err="1"/>
              <a:t>Pathway</a:t>
            </a:r>
            <a:r>
              <a:rPr lang="fi-FI" dirty="0"/>
              <a:t> to </a:t>
            </a:r>
            <a:r>
              <a:rPr lang="fi-FI" dirty="0" err="1"/>
              <a:t>opportunity</a:t>
            </a:r>
            <a:r>
              <a:rPr lang="fi-FI" dirty="0"/>
              <a:t>, </a:t>
            </a:r>
            <a:r>
              <a:rPr lang="fi-FI" dirty="0" err="1"/>
              <a:t>empowerment</a:t>
            </a:r>
            <a:r>
              <a:rPr lang="fi-FI" dirty="0"/>
              <a:t> and </a:t>
            </a:r>
            <a:r>
              <a:rPr lang="fi-FI" dirty="0" err="1"/>
              <a:t>upward</a:t>
            </a:r>
            <a:r>
              <a:rPr lang="fi-FI" dirty="0"/>
              <a:t> </a:t>
            </a:r>
            <a:r>
              <a:rPr lang="fi-FI" dirty="0" err="1"/>
              <a:t>social</a:t>
            </a:r>
            <a:r>
              <a:rPr lang="fi-FI" dirty="0"/>
              <a:t> </a:t>
            </a:r>
            <a:r>
              <a:rPr lang="fi-FI" dirty="0" err="1"/>
              <a:t>mobility</a:t>
            </a:r>
            <a:r>
              <a:rPr lang="fi-FI" dirty="0"/>
              <a:t>. </a:t>
            </a:r>
          </a:p>
          <a:p>
            <a:endParaRPr lang="fi-FI" dirty="0"/>
          </a:p>
          <a:p>
            <a:r>
              <a:rPr lang="fi-FI" dirty="0"/>
              <a:t>Education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try</a:t>
            </a:r>
            <a:r>
              <a:rPr lang="fi-FI" dirty="0"/>
              <a:t> to </a:t>
            </a:r>
            <a:r>
              <a:rPr lang="fi-FI" dirty="0" err="1"/>
              <a:t>provide</a:t>
            </a:r>
            <a:r>
              <a:rPr lang="fi-FI" dirty="0"/>
              <a:t> </a:t>
            </a:r>
            <a:r>
              <a:rPr lang="fi-FI" dirty="0" err="1"/>
              <a:t>equal</a:t>
            </a:r>
            <a:r>
              <a:rPr lang="fi-FI" dirty="0"/>
              <a:t> </a:t>
            </a:r>
            <a:r>
              <a:rPr lang="fi-FI" dirty="0" err="1"/>
              <a:t>opportunities</a:t>
            </a:r>
            <a:endParaRPr lang="fi-FI" dirty="0"/>
          </a:p>
          <a:p>
            <a:pPr lvl="1"/>
            <a:r>
              <a:rPr lang="fi-FI" dirty="0"/>
              <a:t>It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also</a:t>
            </a:r>
            <a:r>
              <a:rPr lang="fi-FI" dirty="0"/>
              <a:t> </a:t>
            </a:r>
            <a:r>
              <a:rPr lang="fi-FI" dirty="0" err="1"/>
              <a:t>reflect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reinforce</a:t>
            </a:r>
            <a:r>
              <a:rPr lang="fi-FI" dirty="0"/>
              <a:t> </a:t>
            </a:r>
            <a:r>
              <a:rPr lang="fi-FI" dirty="0" err="1"/>
              <a:t>pre-existing</a:t>
            </a:r>
            <a:r>
              <a:rPr lang="fi-FI" dirty="0"/>
              <a:t> </a:t>
            </a:r>
            <a:r>
              <a:rPr lang="fi-FI" dirty="0" err="1"/>
              <a:t>social</a:t>
            </a:r>
            <a:r>
              <a:rPr lang="fi-FI" dirty="0"/>
              <a:t> </a:t>
            </a:r>
            <a:r>
              <a:rPr lang="fi-FI" dirty="0" err="1"/>
              <a:t>hierarchies</a:t>
            </a:r>
            <a:r>
              <a:rPr lang="fi-FI" dirty="0"/>
              <a:t>.</a:t>
            </a:r>
          </a:p>
          <a:p>
            <a:pPr lvl="1"/>
            <a:r>
              <a:rPr lang="fi-FI" dirty="0"/>
              <a:t>Access to </a:t>
            </a:r>
            <a:r>
              <a:rPr lang="fi-FI" dirty="0" err="1"/>
              <a:t>high-quality</a:t>
            </a:r>
            <a:r>
              <a:rPr lang="fi-FI" dirty="0"/>
              <a:t> </a:t>
            </a:r>
            <a:r>
              <a:rPr lang="fi-FI" dirty="0" err="1"/>
              <a:t>education</a:t>
            </a:r>
            <a:r>
              <a:rPr lang="fi-FI" dirty="0"/>
              <a:t> is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distributed</a:t>
            </a:r>
            <a:r>
              <a:rPr lang="fi-FI" dirty="0"/>
              <a:t> </a:t>
            </a:r>
            <a:r>
              <a:rPr lang="fi-FI" dirty="0" err="1"/>
              <a:t>equally</a:t>
            </a:r>
            <a:r>
              <a:rPr lang="fi-FI" dirty="0"/>
              <a:t>; it is </a:t>
            </a:r>
            <a:r>
              <a:rPr lang="fi-FI" dirty="0" err="1"/>
              <a:t>shaped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many</a:t>
            </a:r>
            <a:r>
              <a:rPr lang="fi-FI" dirty="0"/>
              <a:t> </a:t>
            </a:r>
            <a:r>
              <a:rPr lang="fi-FI" dirty="0" err="1"/>
              <a:t>factors</a:t>
            </a:r>
            <a:endParaRPr lang="fr-FR" b="1" dirty="0"/>
          </a:p>
          <a:p>
            <a:r>
              <a:rPr lang="fr-FR" b="1" dirty="0"/>
              <a:t>Source:</a:t>
            </a:r>
          </a:p>
          <a:p>
            <a:pPr lvl="1"/>
            <a:r>
              <a:rPr lang="fr-FR" b="1" dirty="0"/>
              <a:t>Bourdieu, P., &amp; Passeron, J.-C. (1977).</a:t>
            </a:r>
            <a:r>
              <a:rPr lang="fr-FR" dirty="0"/>
              <a:t> </a:t>
            </a:r>
            <a:r>
              <a:rPr lang="fr-FR" i="1" dirty="0"/>
              <a:t>Reproduction in Education, Society and Culture</a:t>
            </a:r>
            <a:r>
              <a:rPr lang="fr-FR" dirty="0"/>
              <a:t>. Sage.</a:t>
            </a:r>
            <a:endParaRPr lang="fi-FI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873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5D02-C0F4-4126-DB9E-727596A8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Stratification</a:t>
            </a:r>
            <a:r>
              <a:rPr lang="fi-FI" dirty="0"/>
              <a:t> </a:t>
            </a:r>
            <a:r>
              <a:rPr lang="fi-FI" dirty="0" err="1"/>
              <a:t>within</a:t>
            </a:r>
            <a:r>
              <a:rPr lang="fi-FI" dirty="0"/>
              <a:t> </a:t>
            </a:r>
            <a:r>
              <a:rPr lang="fi-FI" dirty="0" err="1"/>
              <a:t>education</a:t>
            </a:r>
            <a:r>
              <a:rPr lang="fi-FI" dirty="0"/>
              <a:t> </a:t>
            </a:r>
            <a:r>
              <a:rPr lang="fi-FI" dirty="0" err="1"/>
              <a:t>systems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FDA88-AE13-58D4-687A-DAD2E1DA9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i-FI" dirty="0" err="1"/>
              <a:t>There</a:t>
            </a:r>
            <a:r>
              <a:rPr lang="fi-FI" dirty="0"/>
              <a:t> </a:t>
            </a:r>
            <a:r>
              <a:rPr lang="fi-FI" dirty="0" err="1"/>
              <a:t>exists</a:t>
            </a:r>
            <a:r>
              <a:rPr lang="fi-FI" dirty="0"/>
              <a:t> some </a:t>
            </a:r>
            <a:r>
              <a:rPr lang="fi-FI" dirty="0" err="1"/>
              <a:t>selection</a:t>
            </a:r>
            <a:r>
              <a:rPr lang="fi-FI" dirty="0"/>
              <a:t>, </a:t>
            </a:r>
            <a:r>
              <a:rPr lang="fi-FI" dirty="0" err="1"/>
              <a:t>streaming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tracking</a:t>
            </a:r>
            <a:r>
              <a:rPr lang="fi-FI" dirty="0"/>
              <a:t> of </a:t>
            </a:r>
            <a:r>
              <a:rPr lang="fi-FI" dirty="0" err="1"/>
              <a:t>students</a:t>
            </a:r>
            <a:r>
              <a:rPr lang="fi-FI" dirty="0"/>
              <a:t> into </a:t>
            </a:r>
            <a:r>
              <a:rPr lang="fi-FI" dirty="0" err="1"/>
              <a:t>different</a:t>
            </a:r>
            <a:r>
              <a:rPr lang="fi-FI" dirty="0"/>
              <a:t> </a:t>
            </a:r>
            <a:r>
              <a:rPr lang="fi-FI" dirty="0" err="1"/>
              <a:t>educational</a:t>
            </a:r>
            <a:r>
              <a:rPr lang="fi-FI" dirty="0"/>
              <a:t> </a:t>
            </a:r>
            <a:r>
              <a:rPr lang="fi-FI" dirty="0" err="1"/>
              <a:t>paths</a:t>
            </a:r>
            <a:r>
              <a:rPr lang="fi-FI" dirty="0"/>
              <a:t> (</a:t>
            </a:r>
            <a:r>
              <a:rPr lang="fi-FI" dirty="0" err="1"/>
              <a:t>vocation</a:t>
            </a:r>
            <a:r>
              <a:rPr lang="fi-FI" dirty="0"/>
              <a:t> vs. </a:t>
            </a:r>
            <a:r>
              <a:rPr lang="fi-FI" dirty="0" err="1"/>
              <a:t>academic</a:t>
            </a:r>
            <a:r>
              <a:rPr lang="fi-FI" dirty="0"/>
              <a:t>; </a:t>
            </a:r>
            <a:r>
              <a:rPr lang="fi-FI" dirty="0" err="1"/>
              <a:t>scientific</a:t>
            </a:r>
            <a:r>
              <a:rPr lang="fi-FI" dirty="0"/>
              <a:t> vs. </a:t>
            </a:r>
            <a:r>
              <a:rPr lang="fi-FI" dirty="0" err="1"/>
              <a:t>humanities</a:t>
            </a:r>
            <a:r>
              <a:rPr lang="fi-FI" dirty="0"/>
              <a:t>).</a:t>
            </a:r>
          </a:p>
          <a:p>
            <a:r>
              <a:rPr lang="fi-FI" dirty="0" err="1"/>
              <a:t>Disparities</a:t>
            </a:r>
            <a:r>
              <a:rPr lang="fi-FI" dirty="0"/>
              <a:t> in </a:t>
            </a:r>
            <a:r>
              <a:rPr lang="fi-FI" dirty="0" err="1"/>
              <a:t>school</a:t>
            </a:r>
            <a:r>
              <a:rPr lang="fi-FI" dirty="0"/>
              <a:t> </a:t>
            </a:r>
            <a:r>
              <a:rPr lang="fi-FI" dirty="0" err="1"/>
              <a:t>funding</a:t>
            </a:r>
            <a:r>
              <a:rPr lang="fi-FI" dirty="0"/>
              <a:t>, </a:t>
            </a:r>
            <a:r>
              <a:rPr lang="en-US" dirty="0"/>
              <a:t>teaching quality, and learning resources mean that students from privileged backgrounds</a:t>
            </a:r>
            <a:r>
              <a:rPr lang="fi-FI" dirty="0"/>
              <a:t> </a:t>
            </a:r>
            <a:r>
              <a:rPr lang="fi-FI" dirty="0" err="1"/>
              <a:t>start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advantages</a:t>
            </a:r>
            <a:r>
              <a:rPr lang="fi-FI" dirty="0"/>
              <a:t> and </a:t>
            </a:r>
            <a:r>
              <a:rPr lang="fi-FI" dirty="0" err="1"/>
              <a:t>maintain</a:t>
            </a:r>
            <a:r>
              <a:rPr lang="fi-FI" dirty="0"/>
              <a:t> </a:t>
            </a:r>
            <a:r>
              <a:rPr lang="fi-FI" dirty="0" err="1"/>
              <a:t>them</a:t>
            </a:r>
            <a:r>
              <a:rPr lang="fi-FI" dirty="0"/>
              <a:t>. </a:t>
            </a:r>
          </a:p>
          <a:p>
            <a:r>
              <a:rPr lang="fi-FI" dirty="0" err="1"/>
              <a:t>Hidden</a:t>
            </a:r>
            <a:r>
              <a:rPr lang="fi-FI" dirty="0"/>
              <a:t> curriculum (</a:t>
            </a:r>
            <a:r>
              <a:rPr lang="fi-FI" dirty="0" err="1"/>
              <a:t>unspoken</a:t>
            </a:r>
            <a:r>
              <a:rPr lang="fi-FI" dirty="0"/>
              <a:t> </a:t>
            </a:r>
            <a:r>
              <a:rPr lang="fi-FI" dirty="0" err="1"/>
              <a:t>norms</a:t>
            </a:r>
            <a:r>
              <a:rPr lang="fi-FI" dirty="0"/>
              <a:t> and </a:t>
            </a:r>
            <a:r>
              <a:rPr lang="fi-FI" dirty="0" err="1"/>
              <a:t>expectations</a:t>
            </a:r>
            <a:r>
              <a:rPr lang="fi-FI" dirty="0"/>
              <a:t>) </a:t>
            </a:r>
            <a:r>
              <a:rPr lang="fi-FI" dirty="0" err="1"/>
              <a:t>may</a:t>
            </a:r>
            <a:r>
              <a:rPr lang="fi-FI" dirty="0"/>
              <a:t> </a:t>
            </a:r>
            <a:r>
              <a:rPr lang="fi-FI" dirty="0" err="1"/>
              <a:t>socialise</a:t>
            </a:r>
            <a:r>
              <a:rPr lang="fi-FI" dirty="0"/>
              <a:t> </a:t>
            </a:r>
            <a:r>
              <a:rPr lang="fi-FI" dirty="0" err="1"/>
              <a:t>students</a:t>
            </a:r>
            <a:r>
              <a:rPr lang="fi-FI" dirty="0"/>
              <a:t> </a:t>
            </a:r>
            <a:r>
              <a:rPr lang="fi-FI" dirty="0" err="1"/>
              <a:t>differently</a:t>
            </a:r>
            <a:r>
              <a:rPr lang="fi-FI" dirty="0"/>
              <a:t> </a:t>
            </a:r>
            <a:r>
              <a:rPr lang="fi-FI" dirty="0" err="1"/>
              <a:t>based</a:t>
            </a:r>
            <a:r>
              <a:rPr lang="fi-FI" dirty="0"/>
              <a:t> on </a:t>
            </a:r>
            <a:r>
              <a:rPr lang="fi-FI" dirty="0" err="1"/>
              <a:t>their</a:t>
            </a:r>
            <a:r>
              <a:rPr lang="fi-FI" dirty="0"/>
              <a:t> </a:t>
            </a:r>
            <a:r>
              <a:rPr lang="fi-FI" dirty="0" err="1"/>
              <a:t>background</a:t>
            </a:r>
            <a:r>
              <a:rPr lang="fi-FI" dirty="0"/>
              <a:t>. </a:t>
            </a:r>
          </a:p>
          <a:p>
            <a:endParaRPr lang="fi-FI" dirty="0"/>
          </a:p>
          <a:p>
            <a:r>
              <a:rPr lang="fi-FI" b="1" dirty="0" err="1"/>
              <a:t>Sources</a:t>
            </a:r>
            <a:r>
              <a:rPr lang="fi-FI" dirty="0"/>
              <a:t>: </a:t>
            </a:r>
          </a:p>
          <a:p>
            <a:pPr lvl="1"/>
            <a:r>
              <a:rPr lang="en-US" b="1" dirty="0"/>
              <a:t>UNESCO (2020).</a:t>
            </a:r>
            <a:r>
              <a:rPr lang="en-US" dirty="0"/>
              <a:t> </a:t>
            </a:r>
            <a:r>
              <a:rPr lang="en-US" i="1" dirty="0"/>
              <a:t>Global Education Monitoring Report: Inclusion and Education – All Means All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Gamoran, A. (2001).</a:t>
            </a:r>
            <a:r>
              <a:rPr lang="en-US" dirty="0"/>
              <a:t> “American Schooling and Educational Inequality: A Forecast for the 21st Century.” </a:t>
            </a:r>
            <a:r>
              <a:rPr lang="en-US" i="1" dirty="0"/>
              <a:t>Sociology of Education</a:t>
            </a:r>
            <a:r>
              <a:rPr lang="en-US" dirty="0"/>
              <a:t>, 74, 135–153.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6430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5AAE8-87DC-83CF-D9AD-903B8319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Factors</a:t>
            </a:r>
            <a:r>
              <a:rPr lang="fi-FI" dirty="0"/>
              <a:t> of </a:t>
            </a:r>
            <a:r>
              <a:rPr lang="fi-FI" dirty="0" err="1"/>
              <a:t>access</a:t>
            </a:r>
            <a:r>
              <a:rPr lang="fi-FI" dirty="0"/>
              <a:t> to </a:t>
            </a:r>
            <a:r>
              <a:rPr lang="fi-FI" dirty="0" err="1"/>
              <a:t>education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BEC25-759A-483B-C794-B08BB2EBD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5236"/>
          </a:xfrm>
        </p:spPr>
        <p:txBody>
          <a:bodyPr>
            <a:normAutofit fontScale="70000" lnSpcReduction="20000"/>
          </a:bodyPr>
          <a:lstStyle/>
          <a:p>
            <a:r>
              <a:rPr lang="fi-FI" dirty="0" err="1"/>
              <a:t>Household</a:t>
            </a:r>
            <a:r>
              <a:rPr lang="fi-FI" dirty="0"/>
              <a:t> </a:t>
            </a:r>
            <a:r>
              <a:rPr lang="fi-FI" dirty="0" err="1"/>
              <a:t>socioeconomic</a:t>
            </a:r>
            <a:r>
              <a:rPr lang="fi-FI" dirty="0"/>
              <a:t> position (SEP)</a:t>
            </a:r>
          </a:p>
          <a:p>
            <a:pPr lvl="1"/>
            <a:r>
              <a:rPr lang="fi-FI" dirty="0" err="1"/>
              <a:t>Household</a:t>
            </a:r>
            <a:r>
              <a:rPr lang="fi-FI" dirty="0"/>
              <a:t> </a:t>
            </a:r>
            <a:r>
              <a:rPr lang="fi-FI" dirty="0" err="1"/>
              <a:t>income</a:t>
            </a:r>
            <a:r>
              <a:rPr lang="fi-FI" dirty="0"/>
              <a:t>: </a:t>
            </a:r>
            <a:r>
              <a:rPr lang="fi-FI" dirty="0" err="1"/>
              <a:t>pay</a:t>
            </a:r>
            <a:r>
              <a:rPr lang="fi-FI" dirty="0"/>
              <a:t> </a:t>
            </a:r>
            <a:r>
              <a:rPr lang="fi-FI" dirty="0" err="1"/>
              <a:t>tuition</a:t>
            </a:r>
            <a:r>
              <a:rPr lang="fi-FI" dirty="0"/>
              <a:t>, </a:t>
            </a:r>
            <a:r>
              <a:rPr lang="fi-FI" dirty="0" err="1"/>
              <a:t>afford</a:t>
            </a:r>
            <a:r>
              <a:rPr lang="fi-FI" dirty="0"/>
              <a:t> </a:t>
            </a:r>
            <a:r>
              <a:rPr lang="fi-FI" dirty="0" err="1"/>
              <a:t>private</a:t>
            </a:r>
            <a:r>
              <a:rPr lang="fi-FI" dirty="0"/>
              <a:t> </a:t>
            </a:r>
            <a:r>
              <a:rPr lang="fi-FI" dirty="0" err="1"/>
              <a:t>tutoring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digital</a:t>
            </a:r>
            <a:r>
              <a:rPr lang="fi-FI" dirty="0"/>
              <a:t> </a:t>
            </a:r>
            <a:r>
              <a:rPr lang="fi-FI" dirty="0" err="1"/>
              <a:t>tools</a:t>
            </a:r>
            <a:endParaRPr lang="fi-FI" dirty="0"/>
          </a:p>
          <a:p>
            <a:pPr lvl="1"/>
            <a:r>
              <a:rPr lang="fi-FI" dirty="0" err="1"/>
              <a:t>Parental</a:t>
            </a:r>
            <a:r>
              <a:rPr lang="fi-FI" dirty="0"/>
              <a:t> </a:t>
            </a:r>
            <a:r>
              <a:rPr lang="fi-FI" dirty="0" err="1"/>
              <a:t>education</a:t>
            </a:r>
            <a:r>
              <a:rPr lang="fi-FI" dirty="0"/>
              <a:t> </a:t>
            </a:r>
            <a:r>
              <a:rPr lang="fi-FI" dirty="0" err="1"/>
              <a:t>strongly</a:t>
            </a:r>
            <a:r>
              <a:rPr lang="fi-FI" dirty="0"/>
              <a:t> </a:t>
            </a:r>
            <a:r>
              <a:rPr lang="fi-FI" dirty="0" err="1"/>
              <a:t>correlated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children’s</a:t>
            </a:r>
            <a:r>
              <a:rPr lang="fi-FI" dirty="0"/>
              <a:t> </a:t>
            </a:r>
            <a:r>
              <a:rPr lang="fi-FI" dirty="0" err="1"/>
              <a:t>educational</a:t>
            </a:r>
            <a:r>
              <a:rPr lang="fi-FI" dirty="0"/>
              <a:t> </a:t>
            </a:r>
            <a:r>
              <a:rPr lang="fi-FI" dirty="0" err="1"/>
              <a:t>attainment</a:t>
            </a:r>
            <a:endParaRPr lang="fi-FI" dirty="0"/>
          </a:p>
          <a:p>
            <a:r>
              <a:rPr lang="fr-FR" dirty="0" err="1"/>
              <a:t>Gender</a:t>
            </a:r>
            <a:r>
              <a:rPr lang="fr-FR" dirty="0"/>
              <a:t> </a:t>
            </a:r>
            <a:r>
              <a:rPr lang="fr-FR" dirty="0" err="1"/>
              <a:t>norms</a:t>
            </a:r>
            <a:r>
              <a:rPr lang="fr-FR" dirty="0"/>
              <a:t> and expectations</a:t>
            </a:r>
          </a:p>
          <a:p>
            <a:pPr lvl="1"/>
            <a:r>
              <a:rPr lang="fr-FR" dirty="0" err="1"/>
              <a:t>Traditional</a:t>
            </a:r>
            <a:r>
              <a:rPr lang="fr-FR" dirty="0"/>
              <a:t> </a:t>
            </a:r>
            <a:r>
              <a:rPr lang="fr-FR" dirty="0" err="1"/>
              <a:t>roles</a:t>
            </a:r>
            <a:r>
              <a:rPr lang="fr-FR" dirty="0"/>
              <a:t>: prioritise boys’ </a:t>
            </a:r>
            <a:r>
              <a:rPr lang="fr-FR" dirty="0" err="1"/>
              <a:t>education</a:t>
            </a:r>
            <a:endParaRPr lang="fr-FR" dirty="0"/>
          </a:p>
          <a:p>
            <a:pPr lvl="1"/>
            <a:r>
              <a:rPr lang="fr-FR" dirty="0" err="1"/>
              <a:t>Early</a:t>
            </a:r>
            <a:r>
              <a:rPr lang="fr-FR" dirty="0"/>
              <a:t> </a:t>
            </a:r>
            <a:r>
              <a:rPr lang="fr-FR" dirty="0" err="1"/>
              <a:t>marriage</a:t>
            </a:r>
            <a:r>
              <a:rPr lang="fr-FR" dirty="0"/>
              <a:t> and </a:t>
            </a:r>
            <a:r>
              <a:rPr lang="fr-FR" dirty="0" err="1"/>
              <a:t>caregiving</a:t>
            </a:r>
            <a:r>
              <a:rPr lang="fr-FR" dirty="0"/>
              <a:t> </a:t>
            </a:r>
            <a:r>
              <a:rPr lang="fr-FR" dirty="0" err="1"/>
              <a:t>duties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limit</a:t>
            </a:r>
            <a:r>
              <a:rPr lang="fr-FR" dirty="0"/>
              <a:t> girls’ </a:t>
            </a:r>
            <a:r>
              <a:rPr lang="fr-FR" dirty="0" err="1"/>
              <a:t>schooling</a:t>
            </a:r>
            <a:r>
              <a:rPr lang="fr-FR" dirty="0"/>
              <a:t> (</a:t>
            </a:r>
            <a:r>
              <a:rPr lang="fr-FR" dirty="0" err="1"/>
              <a:t>especially</a:t>
            </a:r>
            <a:r>
              <a:rPr lang="fr-FR" dirty="0"/>
              <a:t> in rural areas)</a:t>
            </a:r>
          </a:p>
          <a:p>
            <a:pPr lvl="1"/>
            <a:r>
              <a:rPr lang="fr-FR" dirty="0"/>
              <a:t>Fields: STEP are </a:t>
            </a:r>
            <a:r>
              <a:rPr lang="fr-FR" dirty="0" err="1"/>
              <a:t>viewed</a:t>
            </a:r>
            <a:r>
              <a:rPr lang="fr-FR" dirty="0"/>
              <a:t> as masculine</a:t>
            </a:r>
          </a:p>
          <a:p>
            <a:r>
              <a:rPr lang="fr-FR" dirty="0" err="1"/>
              <a:t>Geography</a:t>
            </a:r>
            <a:r>
              <a:rPr lang="fr-FR" dirty="0"/>
              <a:t> and infrastructure</a:t>
            </a:r>
          </a:p>
          <a:p>
            <a:pPr lvl="1"/>
            <a:r>
              <a:rPr lang="fr-FR" dirty="0"/>
              <a:t>Rural areas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lack</a:t>
            </a:r>
            <a:r>
              <a:rPr lang="fr-FR" dirty="0"/>
              <a:t>: </a:t>
            </a:r>
            <a:r>
              <a:rPr lang="fr-FR" dirty="0" err="1"/>
              <a:t>schools</a:t>
            </a:r>
            <a:r>
              <a:rPr lang="fr-FR" dirty="0"/>
              <a:t>, transport, and </a:t>
            </a:r>
            <a:r>
              <a:rPr lang="fr-FR" dirty="0" err="1"/>
              <a:t>qualified</a:t>
            </a:r>
            <a:r>
              <a:rPr lang="fr-FR" dirty="0"/>
              <a:t> </a:t>
            </a:r>
            <a:r>
              <a:rPr lang="fr-FR" dirty="0" err="1"/>
              <a:t>teachers</a:t>
            </a:r>
            <a:endParaRPr lang="fr-FR" dirty="0"/>
          </a:p>
          <a:p>
            <a:r>
              <a:rPr lang="fr-FR" dirty="0" err="1"/>
              <a:t>Language</a:t>
            </a:r>
            <a:r>
              <a:rPr lang="fr-FR" dirty="0"/>
              <a:t> and </a:t>
            </a:r>
            <a:r>
              <a:rPr lang="fr-FR" dirty="0" err="1"/>
              <a:t>ethnicity</a:t>
            </a:r>
            <a:endParaRPr lang="fr-FR" dirty="0"/>
          </a:p>
          <a:p>
            <a:pPr lvl="1"/>
            <a:r>
              <a:rPr lang="fr-FR" dirty="0" err="1"/>
              <a:t>Minority</a:t>
            </a:r>
            <a:r>
              <a:rPr lang="fr-FR" dirty="0"/>
              <a:t> or migrant backgrounds </a:t>
            </a:r>
            <a:r>
              <a:rPr lang="fr-FR" dirty="0" err="1"/>
              <a:t>might</a:t>
            </a:r>
            <a:r>
              <a:rPr lang="fr-FR" dirty="0"/>
              <a:t> face </a:t>
            </a:r>
            <a:r>
              <a:rPr lang="fr-FR" dirty="0" err="1"/>
              <a:t>language</a:t>
            </a:r>
            <a:r>
              <a:rPr lang="fr-FR" dirty="0"/>
              <a:t> </a:t>
            </a:r>
            <a:r>
              <a:rPr lang="fr-FR" dirty="0" err="1"/>
              <a:t>barriers</a:t>
            </a:r>
            <a:r>
              <a:rPr lang="fr-FR" dirty="0"/>
              <a:t> or cultural exclusion</a:t>
            </a:r>
          </a:p>
          <a:p>
            <a:pPr lvl="1"/>
            <a:r>
              <a:rPr lang="fr-FR" dirty="0" err="1"/>
              <a:t>Does</a:t>
            </a:r>
            <a:r>
              <a:rPr lang="fr-FR" dirty="0"/>
              <a:t> the curriculum </a:t>
            </a:r>
            <a:r>
              <a:rPr lang="fr-FR" dirty="0" err="1"/>
              <a:t>reflect</a:t>
            </a:r>
            <a:r>
              <a:rPr lang="fr-FR" dirty="0"/>
              <a:t>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identity</a:t>
            </a:r>
            <a:r>
              <a:rPr lang="fr-FR" dirty="0"/>
              <a:t> or </a:t>
            </a:r>
            <a:r>
              <a:rPr lang="fr-FR" dirty="0" err="1"/>
              <a:t>history</a:t>
            </a:r>
            <a:r>
              <a:rPr lang="fr-FR" dirty="0"/>
              <a:t>?</a:t>
            </a:r>
          </a:p>
          <a:p>
            <a:r>
              <a:rPr lang="fr-FR" dirty="0"/>
              <a:t>Policy and </a:t>
            </a:r>
            <a:r>
              <a:rPr lang="fr-FR" dirty="0" err="1"/>
              <a:t>institutional</a:t>
            </a:r>
            <a:r>
              <a:rPr lang="fr-FR" dirty="0"/>
              <a:t> </a:t>
            </a:r>
            <a:r>
              <a:rPr lang="fr-FR" dirty="0" err="1"/>
              <a:t>barriers</a:t>
            </a:r>
            <a:endParaRPr lang="fr-FR" dirty="0"/>
          </a:p>
          <a:p>
            <a:pPr lvl="1"/>
            <a:r>
              <a:rPr lang="fr-FR" dirty="0" err="1"/>
              <a:t>Underfunded</a:t>
            </a:r>
            <a:r>
              <a:rPr lang="fr-FR" dirty="0"/>
              <a:t> </a:t>
            </a:r>
            <a:r>
              <a:rPr lang="fr-FR" dirty="0" err="1"/>
              <a:t>education</a:t>
            </a:r>
            <a:r>
              <a:rPr lang="fr-FR" dirty="0"/>
              <a:t> </a:t>
            </a:r>
            <a:r>
              <a:rPr lang="fr-FR" dirty="0" err="1"/>
              <a:t>policy</a:t>
            </a:r>
            <a:endParaRPr lang="fr-FR" dirty="0"/>
          </a:p>
          <a:p>
            <a:pPr lvl="1"/>
            <a:r>
              <a:rPr lang="fr-FR" dirty="0" err="1"/>
              <a:t>Political</a:t>
            </a:r>
            <a:r>
              <a:rPr lang="fr-FR" dirty="0"/>
              <a:t> </a:t>
            </a:r>
            <a:r>
              <a:rPr lang="fr-FR" dirty="0" err="1"/>
              <a:t>instability</a:t>
            </a:r>
            <a:r>
              <a:rPr lang="fr-FR" dirty="0"/>
              <a:t>, </a:t>
            </a:r>
            <a:r>
              <a:rPr lang="fr-FR" dirty="0" err="1"/>
              <a:t>conflicts</a:t>
            </a:r>
            <a:r>
              <a:rPr lang="fr-FR" dirty="0"/>
              <a:t> or post-</a:t>
            </a:r>
            <a:r>
              <a:rPr lang="fr-FR" dirty="0" err="1"/>
              <a:t>conflict</a:t>
            </a:r>
            <a:r>
              <a:rPr lang="fr-FR" dirty="0"/>
              <a:t> situations</a:t>
            </a:r>
          </a:p>
          <a:p>
            <a:pPr lvl="1"/>
            <a:r>
              <a:rPr lang="fr-FR" dirty="0"/>
              <a:t>Crises (e.g. Covid)</a:t>
            </a:r>
          </a:p>
        </p:txBody>
      </p:sp>
    </p:spTree>
    <p:extLst>
      <p:ext uri="{BB962C8B-B14F-4D97-AF65-F5344CB8AC3E}">
        <p14:creationId xmlns:p14="http://schemas.microsoft.com/office/powerpoint/2010/main" val="159885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D2E38-4EDE-7208-D7C1-44F0059B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Meritocracy</a:t>
            </a:r>
            <a:r>
              <a:rPr lang="fi-FI" dirty="0"/>
              <a:t>: a </a:t>
            </a:r>
            <a:r>
              <a:rPr lang="fi-FI" dirty="0" err="1"/>
              <a:t>myth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7CF4C-3A56-2884-FE1F-A4A34C159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Education is </a:t>
            </a:r>
            <a:r>
              <a:rPr lang="fi-FI" dirty="0" err="1"/>
              <a:t>increasinlgy</a:t>
            </a:r>
            <a:r>
              <a:rPr lang="fi-FI" dirty="0"/>
              <a:t> a </a:t>
            </a:r>
            <a:r>
              <a:rPr lang="fi-FI" dirty="0" err="1"/>
              <a:t>gatekeeper</a:t>
            </a:r>
            <a:r>
              <a:rPr lang="fi-FI" dirty="0"/>
              <a:t> for labour market </a:t>
            </a:r>
            <a:r>
              <a:rPr lang="fi-FI" dirty="0" err="1"/>
              <a:t>access</a:t>
            </a:r>
            <a:endParaRPr lang="fi-FI" dirty="0"/>
          </a:p>
          <a:p>
            <a:r>
              <a:rPr lang="fi-FI" dirty="0" err="1"/>
              <a:t>The</a:t>
            </a:r>
            <a:r>
              <a:rPr lang="fi-FI" dirty="0"/>
              <a:t> idea of </a:t>
            </a:r>
            <a:r>
              <a:rPr lang="fi-FI" dirty="0" err="1"/>
              <a:t>meritocracy</a:t>
            </a:r>
            <a:r>
              <a:rPr lang="fi-FI" dirty="0"/>
              <a:t> </a:t>
            </a:r>
            <a:r>
              <a:rPr lang="fi-FI" dirty="0" err="1"/>
              <a:t>often</a:t>
            </a:r>
            <a:r>
              <a:rPr lang="fi-FI" dirty="0"/>
              <a:t> </a:t>
            </a:r>
            <a:r>
              <a:rPr lang="fi-FI" dirty="0" err="1"/>
              <a:t>masks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structural</a:t>
            </a:r>
            <a:r>
              <a:rPr lang="fi-FI" dirty="0"/>
              <a:t> </a:t>
            </a:r>
            <a:r>
              <a:rPr lang="fi-FI" dirty="0" err="1"/>
              <a:t>barriers</a:t>
            </a:r>
            <a:r>
              <a:rPr lang="fi-FI" dirty="0"/>
              <a:t> </a:t>
            </a:r>
            <a:r>
              <a:rPr lang="fi-FI" dirty="0" err="1"/>
              <a:t>certain</a:t>
            </a:r>
            <a:r>
              <a:rPr lang="fi-FI" dirty="0"/>
              <a:t> </a:t>
            </a:r>
            <a:r>
              <a:rPr lang="fi-FI" dirty="0" err="1"/>
              <a:t>groups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face</a:t>
            </a:r>
            <a:r>
              <a:rPr lang="fi-FI" dirty="0"/>
              <a:t>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3681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E760-0DB4-91B8-4B30-DDAA3FC6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Gender</a:t>
            </a:r>
            <a:r>
              <a:rPr lang="fi-FI" dirty="0"/>
              <a:t> and </a:t>
            </a:r>
            <a:r>
              <a:rPr lang="fi-FI" dirty="0" err="1"/>
              <a:t>education</a:t>
            </a:r>
            <a:r>
              <a:rPr lang="fi-FI" dirty="0"/>
              <a:t>, some </a:t>
            </a:r>
            <a:r>
              <a:rPr lang="fi-FI" dirty="0" err="1"/>
              <a:t>persistent</a:t>
            </a:r>
            <a:r>
              <a:rPr lang="fi-FI" dirty="0"/>
              <a:t> </a:t>
            </a:r>
            <a:r>
              <a:rPr lang="fi-FI" dirty="0" err="1"/>
              <a:t>inequalities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1CC13-381A-B490-7F95-8EA159EE7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Despite</a:t>
            </a:r>
            <a:r>
              <a:rPr lang="fi-FI" dirty="0"/>
              <a:t> </a:t>
            </a:r>
            <a:r>
              <a:rPr lang="fi-FI" dirty="0" err="1"/>
              <a:t>formal</a:t>
            </a:r>
            <a:r>
              <a:rPr lang="fi-FI" dirty="0"/>
              <a:t> </a:t>
            </a:r>
            <a:r>
              <a:rPr lang="fi-FI" dirty="0" err="1"/>
              <a:t>progress</a:t>
            </a:r>
            <a:r>
              <a:rPr lang="fi-FI" dirty="0"/>
              <a:t> in </a:t>
            </a:r>
            <a:r>
              <a:rPr lang="fi-FI" dirty="0" err="1"/>
              <a:t>gender</a:t>
            </a:r>
            <a:r>
              <a:rPr lang="fi-FI" dirty="0"/>
              <a:t> </a:t>
            </a:r>
            <a:r>
              <a:rPr lang="fi-FI" dirty="0" err="1"/>
              <a:t>parity</a:t>
            </a:r>
            <a:r>
              <a:rPr lang="fi-FI" dirty="0"/>
              <a:t> in </a:t>
            </a:r>
            <a:r>
              <a:rPr lang="fi-FI" dirty="0" err="1"/>
              <a:t>enrollment</a:t>
            </a:r>
            <a:r>
              <a:rPr lang="fi-FI" dirty="0"/>
              <a:t>, </a:t>
            </a:r>
          </a:p>
          <a:p>
            <a:pPr lvl="1"/>
            <a:r>
              <a:rPr lang="fi-FI" dirty="0">
                <a:hlinkClick r:id="rId2"/>
              </a:rPr>
              <a:t>https://data.worldbank.org/indicator/SE.SEC.ENRR?locations=KZ-US-FI</a:t>
            </a:r>
            <a:r>
              <a:rPr lang="fi-FI" dirty="0"/>
              <a:t> </a:t>
            </a:r>
          </a:p>
          <a:p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still</a:t>
            </a:r>
            <a:r>
              <a:rPr lang="fi-FI" dirty="0"/>
              <a:t> </a:t>
            </a:r>
            <a:r>
              <a:rPr lang="fi-FI" dirty="0" err="1"/>
              <a:t>see</a:t>
            </a:r>
            <a:r>
              <a:rPr lang="fi-FI" dirty="0"/>
              <a:t> some </a:t>
            </a:r>
            <a:r>
              <a:rPr lang="fi-FI" dirty="0" err="1"/>
              <a:t>substantive</a:t>
            </a:r>
            <a:r>
              <a:rPr lang="fi-FI" dirty="0"/>
              <a:t> </a:t>
            </a:r>
            <a:r>
              <a:rPr lang="fi-FI" dirty="0" err="1"/>
              <a:t>inequalities</a:t>
            </a:r>
            <a:r>
              <a:rPr lang="fi-FI" dirty="0"/>
              <a:t>:</a:t>
            </a:r>
          </a:p>
          <a:p>
            <a:pPr lvl="1"/>
            <a:r>
              <a:rPr lang="fi-FI" dirty="0"/>
              <a:t>Access to </a:t>
            </a:r>
            <a:r>
              <a:rPr lang="fi-FI" dirty="0" err="1"/>
              <a:t>quality</a:t>
            </a:r>
            <a:r>
              <a:rPr lang="fi-FI" dirty="0"/>
              <a:t> </a:t>
            </a:r>
            <a:r>
              <a:rPr lang="fi-FI" dirty="0" err="1"/>
              <a:t>education</a:t>
            </a:r>
            <a:endParaRPr lang="fi-FI" dirty="0"/>
          </a:p>
          <a:p>
            <a:pPr lvl="1"/>
            <a:r>
              <a:rPr lang="fi-FI" dirty="0"/>
              <a:t> Fields of </a:t>
            </a:r>
            <a:r>
              <a:rPr lang="fi-FI" dirty="0" err="1"/>
              <a:t>study</a:t>
            </a:r>
            <a:r>
              <a:rPr lang="fi-FI" dirty="0"/>
              <a:t> (STEM vs. </a:t>
            </a:r>
            <a:r>
              <a:rPr lang="fi-FI" dirty="0" err="1"/>
              <a:t>humanities</a:t>
            </a:r>
            <a:r>
              <a:rPr lang="fi-FI" dirty="0"/>
              <a:t>)</a:t>
            </a:r>
          </a:p>
          <a:p>
            <a:pPr lvl="1"/>
            <a:r>
              <a:rPr lang="fi-FI" dirty="0" err="1"/>
              <a:t>Outcomes</a:t>
            </a:r>
            <a:r>
              <a:rPr lang="fi-FI" dirty="0"/>
              <a:t> in </a:t>
            </a:r>
            <a:r>
              <a:rPr lang="fi-FI" dirty="0" err="1"/>
              <a:t>learning</a:t>
            </a:r>
            <a:r>
              <a:rPr lang="fi-FI" dirty="0"/>
              <a:t> and </a:t>
            </a:r>
            <a:r>
              <a:rPr lang="fi-FI" dirty="0" err="1"/>
              <a:t>career</a:t>
            </a:r>
            <a:r>
              <a:rPr lang="fi-FI" dirty="0"/>
              <a:t> </a:t>
            </a:r>
            <a:r>
              <a:rPr lang="fi-FI" dirty="0" err="1"/>
              <a:t>trajectories</a:t>
            </a:r>
            <a:endParaRPr lang="fi-FI" dirty="0"/>
          </a:p>
          <a:p>
            <a:r>
              <a:rPr lang="fi-FI" dirty="0" err="1"/>
              <a:t>Gender</a:t>
            </a:r>
            <a:r>
              <a:rPr lang="fi-FI" dirty="0"/>
              <a:t> </a:t>
            </a:r>
            <a:r>
              <a:rPr lang="fi-FI" dirty="0" err="1"/>
              <a:t>norms</a:t>
            </a:r>
            <a:r>
              <a:rPr lang="fi-FI" dirty="0"/>
              <a:t> </a:t>
            </a:r>
            <a:r>
              <a:rPr lang="fi-FI" dirty="0" err="1"/>
              <a:t>shape</a:t>
            </a:r>
            <a:r>
              <a:rPr lang="fi-FI" dirty="0"/>
              <a:t> </a:t>
            </a:r>
            <a:r>
              <a:rPr lang="fi-FI" dirty="0" err="1"/>
              <a:t>educational</a:t>
            </a:r>
            <a:r>
              <a:rPr lang="fi-FI" dirty="0"/>
              <a:t> and </a:t>
            </a:r>
            <a:r>
              <a:rPr lang="fi-FI" dirty="0" err="1"/>
              <a:t>professional</a:t>
            </a:r>
            <a:r>
              <a:rPr lang="fi-FI" dirty="0"/>
              <a:t> </a:t>
            </a:r>
            <a:r>
              <a:rPr lang="fi-FI" dirty="0" err="1"/>
              <a:t>aspirations</a:t>
            </a:r>
            <a:r>
              <a:rPr lang="fi-FI" dirty="0"/>
              <a:t>, </a:t>
            </a:r>
            <a:r>
              <a:rPr lang="fi-FI" dirty="0" err="1"/>
              <a:t>self-concept</a:t>
            </a:r>
            <a:r>
              <a:rPr lang="fi-FI" dirty="0"/>
              <a:t> and </a:t>
            </a:r>
            <a:r>
              <a:rPr lang="fi-FI" dirty="0" err="1"/>
              <a:t>performance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early</a:t>
            </a:r>
            <a:r>
              <a:rPr lang="fi-FI" dirty="0"/>
              <a:t> </a:t>
            </a:r>
            <a:r>
              <a:rPr lang="fi-FI" dirty="0" err="1"/>
              <a:t>childhood</a:t>
            </a:r>
            <a:r>
              <a:rPr lang="fi-FI" dirty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9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8E4090F-A1FC-74C2-5EE1-05872CB45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07" y="0"/>
            <a:ext cx="11907049" cy="674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371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46ED-5F24-B274-EF75-FB40CBC8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FF13F-A94C-7BA8-49F1-F74191217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Source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graph</a:t>
            </a:r>
            <a:r>
              <a:rPr lang="fi-FI" dirty="0"/>
              <a:t>: </a:t>
            </a:r>
          </a:p>
          <a:p>
            <a:pPr lvl="1"/>
            <a:r>
              <a:rPr lang="fi-FI" dirty="0" err="1"/>
              <a:t>Montoya</a:t>
            </a:r>
            <a:r>
              <a:rPr lang="fi-FI" dirty="0"/>
              <a:t> S. (2024). </a:t>
            </a:r>
            <a:r>
              <a:rPr lang="en-US" b="1" i="0" dirty="0">
                <a:solidFill>
                  <a:srgbClr val="1A1A1A"/>
                </a:solidFill>
                <a:effectLst/>
                <a:latin typeface="MuseoSansRounded"/>
              </a:rPr>
              <a:t>New UIS data show that the share of women in STEM graduates stagnant for 10 years</a:t>
            </a:r>
            <a:r>
              <a:rPr lang="fi-FI" b="1" i="0" dirty="0">
                <a:solidFill>
                  <a:srgbClr val="1A1A1A"/>
                </a:solidFill>
                <a:effectLst/>
                <a:latin typeface="MuseoSansRounded"/>
              </a:rPr>
              <a:t>. </a:t>
            </a:r>
            <a:r>
              <a:rPr lang="fi-FI" i="0" dirty="0">
                <a:solidFill>
                  <a:srgbClr val="1A1A1A"/>
                </a:solidFill>
                <a:effectLst/>
                <a:latin typeface="MuseoSansRounded"/>
              </a:rPr>
              <a:t>UNESCO World Education </a:t>
            </a:r>
            <a:r>
              <a:rPr lang="fi-FI" i="0" dirty="0" err="1">
                <a:solidFill>
                  <a:srgbClr val="1A1A1A"/>
                </a:solidFill>
                <a:effectLst/>
                <a:latin typeface="MuseoSansRounded"/>
              </a:rPr>
              <a:t>blog</a:t>
            </a:r>
            <a:r>
              <a:rPr lang="fi-FI" i="0" dirty="0">
                <a:solidFill>
                  <a:srgbClr val="1A1A1A"/>
                </a:solidFill>
                <a:effectLst/>
                <a:latin typeface="MuseoSansRounded"/>
              </a:rPr>
              <a:t>. </a:t>
            </a:r>
            <a:r>
              <a:rPr lang="fi-FI" dirty="0"/>
              <a:t>URL: https://world-education-blog.org/2024/04/25/new-uis-data-show-that-the-share-of-women-in-stem-graduates-stagnant-for-10-years/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4476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CDA2-1EF0-7AC9-8686-3D7A7073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Gender</a:t>
            </a:r>
            <a:r>
              <a:rPr lang="fi-FI" dirty="0"/>
              <a:t> </a:t>
            </a:r>
            <a:r>
              <a:rPr lang="fi-FI" dirty="0" err="1"/>
              <a:t>inequalities</a:t>
            </a:r>
            <a:r>
              <a:rPr lang="fi-FI" dirty="0"/>
              <a:t> in </a:t>
            </a:r>
            <a:r>
              <a:rPr lang="fi-FI" dirty="0" err="1"/>
              <a:t>education</a:t>
            </a:r>
            <a:r>
              <a:rPr lang="fi-FI" dirty="0"/>
              <a:t>: some </a:t>
            </a:r>
            <a:r>
              <a:rPr lang="fi-FI" dirty="0" err="1"/>
              <a:t>factors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A449A-1936-1A4D-900B-F98D8E78C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err="1"/>
              <a:t>Stereotypes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internalised</a:t>
            </a:r>
            <a:r>
              <a:rPr lang="fi-FI" dirty="0"/>
              <a:t> </a:t>
            </a:r>
            <a:r>
              <a:rPr lang="fi-FI" dirty="0" err="1"/>
              <a:t>early</a:t>
            </a:r>
            <a:r>
              <a:rPr lang="fi-FI" dirty="0"/>
              <a:t> and </a:t>
            </a:r>
            <a:r>
              <a:rPr lang="fi-FI" dirty="0" err="1"/>
              <a:t>affect</a:t>
            </a:r>
            <a:r>
              <a:rPr lang="fi-FI" dirty="0"/>
              <a:t> </a:t>
            </a:r>
            <a:r>
              <a:rPr lang="fi-FI" dirty="0" err="1"/>
              <a:t>course</a:t>
            </a:r>
            <a:r>
              <a:rPr lang="fi-FI" dirty="0"/>
              <a:t> </a:t>
            </a:r>
            <a:r>
              <a:rPr lang="fi-FI" dirty="0" err="1"/>
              <a:t>selection</a:t>
            </a:r>
            <a:r>
              <a:rPr lang="fi-FI" dirty="0"/>
              <a:t> and </a:t>
            </a:r>
            <a:r>
              <a:rPr lang="fi-FI" dirty="0" err="1"/>
              <a:t>confidence</a:t>
            </a:r>
            <a:endParaRPr lang="fi-FI" dirty="0"/>
          </a:p>
          <a:p>
            <a:pPr lvl="1"/>
            <a:r>
              <a:rPr lang="fi-FI" dirty="0"/>
              <a:t>E.g. ”Boys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better</a:t>
            </a:r>
            <a:r>
              <a:rPr lang="fi-FI" dirty="0"/>
              <a:t> at </a:t>
            </a:r>
            <a:r>
              <a:rPr lang="fi-FI" dirty="0" err="1"/>
              <a:t>maths</a:t>
            </a:r>
            <a:r>
              <a:rPr lang="fi-FI" dirty="0"/>
              <a:t>”</a:t>
            </a:r>
          </a:p>
          <a:p>
            <a:r>
              <a:rPr lang="fi-FI" dirty="0" err="1"/>
              <a:t>Curricula</a:t>
            </a:r>
            <a:r>
              <a:rPr lang="fi-FI" dirty="0"/>
              <a:t> and </a:t>
            </a:r>
            <a:r>
              <a:rPr lang="fi-FI" dirty="0" err="1"/>
              <a:t>teacher</a:t>
            </a:r>
            <a:r>
              <a:rPr lang="fi-FI" dirty="0"/>
              <a:t> </a:t>
            </a:r>
            <a:r>
              <a:rPr lang="fi-FI" dirty="0" err="1"/>
              <a:t>bias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reinforce</a:t>
            </a:r>
            <a:r>
              <a:rPr lang="fi-FI" dirty="0"/>
              <a:t> </a:t>
            </a:r>
            <a:r>
              <a:rPr lang="fi-FI" dirty="0" err="1"/>
              <a:t>traditional</a:t>
            </a:r>
            <a:r>
              <a:rPr lang="fi-FI" dirty="0"/>
              <a:t> </a:t>
            </a:r>
            <a:r>
              <a:rPr lang="fi-FI" dirty="0" err="1"/>
              <a:t>gender</a:t>
            </a:r>
            <a:r>
              <a:rPr lang="fi-FI" dirty="0"/>
              <a:t> </a:t>
            </a:r>
            <a:r>
              <a:rPr lang="fi-FI" dirty="0" err="1"/>
              <a:t>roles</a:t>
            </a:r>
            <a:endParaRPr lang="fi-FI" dirty="0"/>
          </a:p>
          <a:p>
            <a:pPr lvl="1"/>
            <a:r>
              <a:rPr lang="fi-FI" dirty="0"/>
              <a:t>E.g. </a:t>
            </a:r>
            <a:r>
              <a:rPr lang="fi-FI" dirty="0" err="1"/>
              <a:t>Women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expected</a:t>
            </a:r>
            <a:r>
              <a:rPr lang="fi-FI" dirty="0"/>
              <a:t> to </a:t>
            </a:r>
            <a:r>
              <a:rPr lang="fi-FI" dirty="0" err="1"/>
              <a:t>enter</a:t>
            </a:r>
            <a:r>
              <a:rPr lang="fi-FI" dirty="0"/>
              <a:t> a </a:t>
            </a:r>
            <a:r>
              <a:rPr lang="fi-FI" dirty="0" err="1"/>
              <a:t>marriage</a:t>
            </a:r>
            <a:r>
              <a:rPr lang="fi-FI" dirty="0"/>
              <a:t> and </a:t>
            </a:r>
            <a:r>
              <a:rPr lang="fi-FI" dirty="0" err="1"/>
              <a:t>caretaking</a:t>
            </a:r>
            <a:r>
              <a:rPr lang="fi-FI" dirty="0"/>
              <a:t> </a:t>
            </a:r>
            <a:r>
              <a:rPr lang="fi-FI" dirty="0" err="1"/>
              <a:t>roles</a:t>
            </a:r>
            <a:endParaRPr lang="fi-FI" dirty="0"/>
          </a:p>
          <a:p>
            <a:r>
              <a:rPr lang="fi-FI" dirty="0"/>
              <a:t>School </a:t>
            </a:r>
            <a:r>
              <a:rPr lang="fi-FI" dirty="0" err="1"/>
              <a:t>environments</a:t>
            </a:r>
            <a:r>
              <a:rPr lang="fi-FI" dirty="0"/>
              <a:t> </a:t>
            </a:r>
            <a:r>
              <a:rPr lang="fi-FI" dirty="0" err="1"/>
              <a:t>often</a:t>
            </a:r>
            <a:r>
              <a:rPr lang="fi-FI" dirty="0"/>
              <a:t> </a:t>
            </a:r>
            <a:r>
              <a:rPr lang="fi-FI" dirty="0" err="1"/>
              <a:t>normalise</a:t>
            </a:r>
            <a:r>
              <a:rPr lang="fi-FI" dirty="0"/>
              <a:t> </a:t>
            </a:r>
            <a:r>
              <a:rPr lang="fi-FI" dirty="0" err="1"/>
              <a:t>male</a:t>
            </a:r>
            <a:r>
              <a:rPr lang="fi-FI" dirty="0"/>
              <a:t> </a:t>
            </a:r>
            <a:r>
              <a:rPr lang="fi-FI" dirty="0" err="1"/>
              <a:t>dominance</a:t>
            </a:r>
            <a:r>
              <a:rPr lang="fi-FI" dirty="0"/>
              <a:t> in </a:t>
            </a:r>
            <a:r>
              <a:rPr lang="fi-FI" dirty="0" err="1"/>
              <a:t>technical</a:t>
            </a:r>
            <a:r>
              <a:rPr lang="fi-FI" dirty="0"/>
              <a:t> </a:t>
            </a:r>
            <a:r>
              <a:rPr lang="fi-FI" dirty="0" err="1"/>
              <a:t>subjects</a:t>
            </a:r>
            <a:r>
              <a:rPr lang="fi-FI" dirty="0"/>
              <a:t> and </a:t>
            </a:r>
            <a:r>
              <a:rPr lang="fi-FI" dirty="0" err="1"/>
              <a:t>leadership</a:t>
            </a:r>
            <a:r>
              <a:rPr lang="fi-FI" dirty="0"/>
              <a:t> </a:t>
            </a:r>
            <a:r>
              <a:rPr lang="fi-FI" dirty="0" err="1"/>
              <a:t>roles</a:t>
            </a:r>
            <a:endParaRPr lang="fi-FI" dirty="0"/>
          </a:p>
          <a:p>
            <a:pPr lvl="1"/>
            <a:r>
              <a:rPr lang="fi-FI" dirty="0"/>
              <a:t>E.g. </a:t>
            </a:r>
            <a:r>
              <a:rPr lang="fi-FI" dirty="0" err="1"/>
              <a:t>lack</a:t>
            </a:r>
            <a:r>
              <a:rPr lang="fi-FI" dirty="0"/>
              <a:t> of </a:t>
            </a:r>
            <a:r>
              <a:rPr lang="fi-FI" dirty="0" err="1"/>
              <a:t>role-models</a:t>
            </a:r>
            <a:endParaRPr lang="fi-FI" dirty="0"/>
          </a:p>
          <a:p>
            <a:r>
              <a:rPr lang="fi-FI" dirty="0" err="1"/>
              <a:t>Intersectionality</a:t>
            </a:r>
            <a:r>
              <a:rPr lang="fi-FI" dirty="0"/>
              <a:t>: </a:t>
            </a:r>
            <a:r>
              <a:rPr lang="fi-FI" dirty="0" err="1"/>
              <a:t>these</a:t>
            </a:r>
            <a:r>
              <a:rPr lang="fi-FI" dirty="0"/>
              <a:t> </a:t>
            </a:r>
            <a:r>
              <a:rPr lang="fi-FI" dirty="0" err="1"/>
              <a:t>gendered</a:t>
            </a:r>
            <a:r>
              <a:rPr lang="fi-FI" dirty="0"/>
              <a:t> </a:t>
            </a:r>
            <a:r>
              <a:rPr lang="fi-FI" dirty="0" err="1"/>
              <a:t>barriers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even</a:t>
            </a:r>
            <a:r>
              <a:rPr lang="fi-FI" dirty="0"/>
              <a:t> </a:t>
            </a:r>
            <a:r>
              <a:rPr lang="fi-FI" dirty="0" err="1"/>
              <a:t>more</a:t>
            </a:r>
            <a:r>
              <a:rPr lang="fi-FI" dirty="0"/>
              <a:t> </a:t>
            </a:r>
            <a:r>
              <a:rPr lang="fi-FI" dirty="0" err="1"/>
              <a:t>visible</a:t>
            </a:r>
            <a:r>
              <a:rPr lang="fi-FI" dirty="0"/>
              <a:t> for </a:t>
            </a:r>
            <a:r>
              <a:rPr lang="fi-FI" dirty="0" err="1"/>
              <a:t>lower</a:t>
            </a:r>
            <a:r>
              <a:rPr lang="fi-FI" dirty="0"/>
              <a:t> </a:t>
            </a:r>
            <a:r>
              <a:rPr lang="fi-FI" dirty="0" err="1"/>
              <a:t>socioeconomic</a:t>
            </a:r>
            <a:r>
              <a:rPr lang="fi-FI" dirty="0"/>
              <a:t> </a:t>
            </a:r>
            <a:r>
              <a:rPr lang="fi-FI" dirty="0" err="1"/>
              <a:t>classes</a:t>
            </a:r>
            <a:r>
              <a:rPr lang="fi-FI" dirty="0"/>
              <a:t>, in </a:t>
            </a:r>
            <a:r>
              <a:rPr lang="fi-FI" dirty="0" err="1"/>
              <a:t>rural</a:t>
            </a:r>
            <a:r>
              <a:rPr lang="fi-FI" dirty="0"/>
              <a:t> </a:t>
            </a:r>
            <a:r>
              <a:rPr lang="fi-FI" dirty="0" err="1"/>
              <a:t>areas</a:t>
            </a:r>
            <a:r>
              <a:rPr lang="fi-FI" dirty="0"/>
              <a:t>, </a:t>
            </a:r>
            <a:r>
              <a:rPr lang="fi-FI" dirty="0" err="1"/>
              <a:t>according</a:t>
            </a:r>
            <a:r>
              <a:rPr lang="fi-FI" dirty="0"/>
              <a:t> to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ethnic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migration</a:t>
            </a:r>
            <a:r>
              <a:rPr lang="fi-FI" dirty="0"/>
              <a:t> status. </a:t>
            </a:r>
          </a:p>
          <a:p>
            <a:r>
              <a:rPr lang="fi-FI" dirty="0" err="1"/>
              <a:t>Gendered</a:t>
            </a:r>
            <a:r>
              <a:rPr lang="fi-FI" dirty="0"/>
              <a:t> </a:t>
            </a:r>
            <a:r>
              <a:rPr lang="fi-FI" dirty="0" err="1"/>
              <a:t>expectations</a:t>
            </a:r>
            <a:r>
              <a:rPr lang="fi-FI" dirty="0"/>
              <a:t> </a:t>
            </a:r>
            <a:r>
              <a:rPr lang="fi-FI" dirty="0">
                <a:sym typeface="Wingdings" panose="05000000000000000000" pitchFamily="2" charset="2"/>
              </a:rPr>
              <a:t> </a:t>
            </a:r>
            <a:r>
              <a:rPr lang="fi-FI" dirty="0" err="1">
                <a:sym typeface="Wingdings" panose="05000000000000000000" pitchFamily="2" charset="2"/>
              </a:rPr>
              <a:t>subject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selection</a:t>
            </a:r>
            <a:r>
              <a:rPr lang="fi-FI" dirty="0">
                <a:sym typeface="Wingdings" panose="05000000000000000000" pitchFamily="2" charset="2"/>
              </a:rPr>
              <a:t>  </a:t>
            </a:r>
            <a:r>
              <a:rPr lang="fi-FI" dirty="0" err="1">
                <a:sym typeface="Wingdings" panose="05000000000000000000" pitchFamily="2" charset="2"/>
              </a:rPr>
              <a:t>career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pathways</a:t>
            </a:r>
            <a:r>
              <a:rPr lang="fi-FI" dirty="0">
                <a:sym typeface="Wingdings" panose="05000000000000000000" pitchFamily="2" charset="2"/>
              </a:rPr>
              <a:t>  </a:t>
            </a:r>
            <a:r>
              <a:rPr lang="fi-FI" dirty="0" err="1">
                <a:sym typeface="Wingdings" panose="05000000000000000000" pitchFamily="2" charset="2"/>
              </a:rPr>
              <a:t>influence</a:t>
            </a:r>
            <a:r>
              <a:rPr lang="fi-FI" dirty="0">
                <a:sym typeface="Wingdings" panose="05000000000000000000" pitchFamily="2" charset="2"/>
              </a:rPr>
              <a:t> on </a:t>
            </a:r>
            <a:r>
              <a:rPr lang="fi-FI" dirty="0" err="1">
                <a:sym typeface="Wingdings" panose="05000000000000000000" pitchFamily="2" charset="2"/>
              </a:rPr>
              <a:t>others</a:t>
            </a:r>
            <a:r>
              <a:rPr lang="fi-FI" dirty="0">
                <a:sym typeface="Wingdings" panose="05000000000000000000" pitchFamily="2" charset="2"/>
              </a:rPr>
              <a:t>’ </a:t>
            </a:r>
            <a:r>
              <a:rPr lang="fi-FI" dirty="0" err="1">
                <a:sym typeface="Wingdings" panose="05000000000000000000" pitchFamily="2" charset="2"/>
              </a:rPr>
              <a:t>expectations</a:t>
            </a:r>
            <a:r>
              <a:rPr lang="fi-FI" dirty="0">
                <a:sym typeface="Wingdings" panose="05000000000000000000" pitchFamily="2" charset="2"/>
              </a:rPr>
              <a:t>…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6251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0B7C-A204-E610-594C-08DF4E6F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How to </a:t>
            </a:r>
            <a:r>
              <a:rPr lang="fi-FI" dirty="0" err="1"/>
              <a:t>measure</a:t>
            </a:r>
            <a:r>
              <a:rPr lang="fi-FI" dirty="0"/>
              <a:t> </a:t>
            </a:r>
            <a:r>
              <a:rPr lang="fi-FI" dirty="0" err="1"/>
              <a:t>educational</a:t>
            </a:r>
            <a:r>
              <a:rPr lang="fi-FI" dirty="0"/>
              <a:t> </a:t>
            </a:r>
            <a:r>
              <a:rPr lang="fi-FI" dirty="0" err="1"/>
              <a:t>inequalities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2C619-E9C8-16D5-DE7F-7F19A9307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383"/>
            <a:ext cx="10515600" cy="4999382"/>
          </a:xfrm>
        </p:spPr>
        <p:txBody>
          <a:bodyPr>
            <a:normAutofit fontScale="85000" lnSpcReduction="20000"/>
          </a:bodyPr>
          <a:lstStyle/>
          <a:p>
            <a:r>
              <a:rPr lang="fi-FI" dirty="0"/>
              <a:t>Access</a:t>
            </a:r>
          </a:p>
          <a:p>
            <a:pPr lvl="1"/>
            <a:r>
              <a:rPr lang="fi-FI" dirty="0" err="1"/>
              <a:t>Enrollment</a:t>
            </a:r>
            <a:r>
              <a:rPr lang="fi-FI" dirty="0"/>
              <a:t> </a:t>
            </a:r>
            <a:r>
              <a:rPr lang="fi-FI" dirty="0" err="1"/>
              <a:t>rates</a:t>
            </a:r>
            <a:r>
              <a:rPr lang="fi-FI" dirty="0"/>
              <a:t> (</a:t>
            </a:r>
            <a:r>
              <a:rPr lang="fi-FI" dirty="0" err="1"/>
              <a:t>by:primary</a:t>
            </a:r>
            <a:r>
              <a:rPr lang="fi-FI" dirty="0"/>
              <a:t>, </a:t>
            </a:r>
            <a:r>
              <a:rPr lang="fi-FI" dirty="0" err="1"/>
              <a:t>secondary</a:t>
            </a:r>
            <a:r>
              <a:rPr lang="fi-FI" dirty="0"/>
              <a:t>, </a:t>
            </a:r>
            <a:r>
              <a:rPr lang="fi-FI" dirty="0" err="1"/>
              <a:t>higher</a:t>
            </a:r>
            <a:r>
              <a:rPr lang="fi-FI" dirty="0"/>
              <a:t> </a:t>
            </a:r>
            <a:r>
              <a:rPr lang="fi-FI" dirty="0" err="1"/>
              <a:t>educations</a:t>
            </a:r>
            <a:r>
              <a:rPr lang="fi-FI" dirty="0"/>
              <a:t>)</a:t>
            </a:r>
          </a:p>
          <a:p>
            <a:pPr lvl="1"/>
            <a:r>
              <a:rPr lang="fi-FI" dirty="0"/>
              <a:t>Out of </a:t>
            </a:r>
            <a:r>
              <a:rPr lang="fi-FI" dirty="0" err="1"/>
              <a:t>school</a:t>
            </a:r>
            <a:r>
              <a:rPr lang="fi-FI" dirty="0"/>
              <a:t> </a:t>
            </a:r>
            <a:r>
              <a:rPr lang="fi-FI" dirty="0" err="1"/>
              <a:t>rates</a:t>
            </a:r>
            <a:r>
              <a:rPr lang="fi-FI" dirty="0"/>
              <a:t>: </a:t>
            </a:r>
            <a:r>
              <a:rPr lang="fi-FI" dirty="0" err="1"/>
              <a:t>especially</a:t>
            </a:r>
            <a:r>
              <a:rPr lang="fi-FI" dirty="0"/>
              <a:t> for </a:t>
            </a:r>
            <a:r>
              <a:rPr lang="fi-FI" dirty="0" err="1"/>
              <a:t>marginalised</a:t>
            </a:r>
            <a:r>
              <a:rPr lang="fi-FI" dirty="0"/>
              <a:t> </a:t>
            </a:r>
            <a:r>
              <a:rPr lang="fi-FI" dirty="0" err="1"/>
              <a:t>groups</a:t>
            </a:r>
            <a:endParaRPr lang="fi-FI" dirty="0"/>
          </a:p>
          <a:p>
            <a:pPr lvl="2"/>
            <a:r>
              <a:rPr lang="fi-FI" dirty="0"/>
              <a:t>NEET: </a:t>
            </a:r>
            <a:r>
              <a:rPr lang="fi-FI" dirty="0" err="1"/>
              <a:t>Not</a:t>
            </a:r>
            <a:r>
              <a:rPr lang="fi-FI" dirty="0"/>
              <a:t> in </a:t>
            </a:r>
            <a:r>
              <a:rPr lang="fi-FI" dirty="0" err="1"/>
              <a:t>education</a:t>
            </a:r>
            <a:r>
              <a:rPr lang="fi-FI" dirty="0"/>
              <a:t>, </a:t>
            </a:r>
            <a:r>
              <a:rPr lang="fi-FI" dirty="0" err="1"/>
              <a:t>employment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training</a:t>
            </a:r>
            <a:r>
              <a:rPr lang="fi-FI" dirty="0"/>
              <a:t> (</a:t>
            </a:r>
            <a:r>
              <a:rPr lang="fi-FI" dirty="0" err="1"/>
              <a:t>often</a:t>
            </a:r>
            <a:r>
              <a:rPr lang="fi-FI" dirty="0"/>
              <a:t> </a:t>
            </a:r>
            <a:r>
              <a:rPr lang="fi-FI" dirty="0" err="1"/>
              <a:t>used</a:t>
            </a:r>
            <a:r>
              <a:rPr lang="fi-FI" dirty="0"/>
              <a:t> for </a:t>
            </a:r>
            <a:r>
              <a:rPr lang="fi-FI" dirty="0" err="1"/>
              <a:t>young</a:t>
            </a:r>
            <a:r>
              <a:rPr lang="fi-FI" dirty="0"/>
              <a:t> </a:t>
            </a:r>
            <a:r>
              <a:rPr lang="fi-FI" dirty="0" err="1"/>
              <a:t>adults</a:t>
            </a:r>
            <a:r>
              <a:rPr lang="fi-FI" dirty="0"/>
              <a:t>)</a:t>
            </a:r>
          </a:p>
          <a:p>
            <a:pPr lvl="1"/>
            <a:r>
              <a:rPr lang="fi-FI" dirty="0" err="1"/>
              <a:t>Age</a:t>
            </a:r>
            <a:r>
              <a:rPr lang="fi-FI" dirty="0"/>
              <a:t> at </a:t>
            </a:r>
            <a:r>
              <a:rPr lang="fi-FI" dirty="0" err="1"/>
              <a:t>school</a:t>
            </a:r>
            <a:r>
              <a:rPr lang="fi-FI" dirty="0"/>
              <a:t> </a:t>
            </a:r>
            <a:r>
              <a:rPr lang="fi-FI" dirty="0" err="1"/>
              <a:t>entry</a:t>
            </a:r>
            <a:r>
              <a:rPr lang="fi-FI" dirty="0"/>
              <a:t> : </a:t>
            </a:r>
            <a:r>
              <a:rPr lang="fi-FI" dirty="0" err="1"/>
              <a:t>delayed</a:t>
            </a:r>
            <a:r>
              <a:rPr lang="fi-FI" dirty="0"/>
              <a:t> </a:t>
            </a:r>
            <a:r>
              <a:rPr lang="fi-FI" dirty="0" err="1"/>
              <a:t>education</a:t>
            </a:r>
            <a:r>
              <a:rPr lang="fi-FI" dirty="0"/>
              <a:t> is </a:t>
            </a:r>
            <a:r>
              <a:rPr lang="fi-FI" dirty="0" err="1"/>
              <a:t>already</a:t>
            </a:r>
            <a:r>
              <a:rPr lang="fi-FI" dirty="0"/>
              <a:t> a </a:t>
            </a:r>
            <a:r>
              <a:rPr lang="fi-FI" dirty="0" err="1"/>
              <a:t>signal</a:t>
            </a:r>
            <a:endParaRPr lang="fi-FI" dirty="0"/>
          </a:p>
          <a:p>
            <a:r>
              <a:rPr lang="fi-FI" dirty="0" err="1"/>
              <a:t>Completion</a:t>
            </a:r>
            <a:r>
              <a:rPr lang="fi-FI" dirty="0"/>
              <a:t>, </a:t>
            </a:r>
            <a:r>
              <a:rPr lang="fi-FI" dirty="0" err="1"/>
              <a:t>attainment</a:t>
            </a:r>
            <a:r>
              <a:rPr lang="fi-FI" dirty="0"/>
              <a:t>:</a:t>
            </a:r>
          </a:p>
          <a:p>
            <a:pPr lvl="1"/>
            <a:r>
              <a:rPr lang="fi-FI" dirty="0" err="1"/>
              <a:t>Completion</a:t>
            </a:r>
            <a:r>
              <a:rPr lang="fi-FI" dirty="0"/>
              <a:t> </a:t>
            </a:r>
            <a:r>
              <a:rPr lang="fi-FI" dirty="0" err="1"/>
              <a:t>rates</a:t>
            </a:r>
            <a:r>
              <a:rPr lang="fi-FI" dirty="0"/>
              <a:t> at </a:t>
            </a:r>
            <a:r>
              <a:rPr lang="fi-FI" dirty="0" err="1"/>
              <a:t>each</a:t>
            </a:r>
            <a:r>
              <a:rPr lang="fi-FI" dirty="0"/>
              <a:t> </a:t>
            </a:r>
            <a:r>
              <a:rPr lang="fi-FI" dirty="0" err="1"/>
              <a:t>educational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fi-FI" dirty="0"/>
          </a:p>
          <a:p>
            <a:pPr lvl="1"/>
            <a:r>
              <a:rPr lang="fi-FI" dirty="0" err="1"/>
              <a:t>Dropout</a:t>
            </a:r>
            <a:r>
              <a:rPr lang="fi-FI" dirty="0"/>
              <a:t> </a:t>
            </a:r>
            <a:r>
              <a:rPr lang="fi-FI" dirty="0" err="1"/>
              <a:t>rates</a:t>
            </a:r>
            <a:r>
              <a:rPr lang="fi-FI" dirty="0"/>
              <a:t>,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school-leaving</a:t>
            </a:r>
            <a:r>
              <a:rPr lang="fi-FI" dirty="0"/>
              <a:t> </a:t>
            </a:r>
            <a:r>
              <a:rPr lang="fi-FI" dirty="0" err="1"/>
              <a:t>age</a:t>
            </a:r>
            <a:endParaRPr lang="fi-FI" dirty="0"/>
          </a:p>
          <a:p>
            <a:pPr lvl="1"/>
            <a:r>
              <a:rPr lang="fi-FI" dirty="0" err="1"/>
              <a:t>Highest</a:t>
            </a:r>
            <a:r>
              <a:rPr lang="fi-FI" dirty="0"/>
              <a:t> </a:t>
            </a:r>
            <a:r>
              <a:rPr lang="fi-FI" dirty="0" err="1"/>
              <a:t>level</a:t>
            </a:r>
            <a:r>
              <a:rPr lang="fi-FI" dirty="0"/>
              <a:t> of </a:t>
            </a:r>
            <a:r>
              <a:rPr lang="fi-FI" dirty="0" err="1"/>
              <a:t>education</a:t>
            </a:r>
            <a:r>
              <a:rPr lang="fi-FI" dirty="0"/>
              <a:t> </a:t>
            </a:r>
            <a:r>
              <a:rPr lang="fi-FI" dirty="0" err="1"/>
              <a:t>attained</a:t>
            </a:r>
            <a:r>
              <a:rPr lang="fi-FI" dirty="0"/>
              <a:t> </a:t>
            </a:r>
          </a:p>
          <a:p>
            <a:pPr lvl="2"/>
            <a:r>
              <a:rPr lang="fi-FI" dirty="0"/>
              <a:t>e.g. %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adults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tertiary</a:t>
            </a:r>
            <a:r>
              <a:rPr lang="fi-FI" dirty="0"/>
              <a:t> </a:t>
            </a:r>
            <a:r>
              <a:rPr lang="fi-FI" dirty="0" err="1"/>
              <a:t>education</a:t>
            </a:r>
            <a:endParaRPr lang="fi-FI" dirty="0"/>
          </a:p>
          <a:p>
            <a:r>
              <a:rPr lang="fi-FI" dirty="0"/>
              <a:t>Learning </a:t>
            </a:r>
            <a:r>
              <a:rPr lang="fi-FI" dirty="0" err="1"/>
              <a:t>outcomes</a:t>
            </a:r>
            <a:endParaRPr lang="fi-FI" dirty="0"/>
          </a:p>
          <a:p>
            <a:pPr lvl="1"/>
            <a:r>
              <a:rPr lang="fi-FI" dirty="0"/>
              <a:t>(</a:t>
            </a:r>
            <a:r>
              <a:rPr lang="fi-FI" dirty="0" err="1"/>
              <a:t>standardised</a:t>
            </a:r>
            <a:r>
              <a:rPr lang="fi-FI" dirty="0"/>
              <a:t>) </a:t>
            </a:r>
            <a:r>
              <a:rPr lang="fi-FI" dirty="0" err="1"/>
              <a:t>Test</a:t>
            </a:r>
            <a:r>
              <a:rPr lang="fi-FI" dirty="0"/>
              <a:t> </a:t>
            </a:r>
            <a:r>
              <a:rPr lang="fi-FI" dirty="0" err="1"/>
              <a:t>scores</a:t>
            </a:r>
            <a:endParaRPr lang="fi-FI" dirty="0"/>
          </a:p>
          <a:p>
            <a:pPr lvl="2"/>
            <a:r>
              <a:rPr lang="fi-FI" dirty="0"/>
              <a:t>E.g. PISA, TIMSS</a:t>
            </a:r>
          </a:p>
          <a:p>
            <a:pPr lvl="1"/>
            <a:r>
              <a:rPr lang="fi-FI" dirty="0" err="1"/>
              <a:t>Literacy</a:t>
            </a:r>
            <a:r>
              <a:rPr lang="fi-FI" dirty="0"/>
              <a:t> and </a:t>
            </a:r>
            <a:r>
              <a:rPr lang="fi-FI" dirty="0" err="1"/>
              <a:t>numeracy</a:t>
            </a:r>
            <a:r>
              <a:rPr lang="fi-FI" dirty="0"/>
              <a:t> </a:t>
            </a:r>
            <a:r>
              <a:rPr lang="fi-FI" dirty="0" err="1"/>
              <a:t>rates</a:t>
            </a:r>
            <a:endParaRPr lang="fi-FI" dirty="0"/>
          </a:p>
          <a:p>
            <a:pPr lvl="1"/>
            <a:r>
              <a:rPr lang="fi-FI" dirty="0" err="1"/>
              <a:t>Gender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dirty="0" err="1"/>
              <a:t>ethnic</a:t>
            </a:r>
            <a:r>
              <a:rPr lang="fi-FI" dirty="0"/>
              <a:t> </a:t>
            </a:r>
            <a:r>
              <a:rPr lang="fi-FI" dirty="0" err="1"/>
              <a:t>gaps</a:t>
            </a:r>
            <a:r>
              <a:rPr lang="fi-FI" dirty="0"/>
              <a:t> in </a:t>
            </a:r>
            <a:r>
              <a:rPr lang="fi-FI" dirty="0" err="1"/>
              <a:t>performance</a:t>
            </a:r>
            <a:endParaRPr lang="fi-FI" dirty="0"/>
          </a:p>
          <a:p>
            <a:pPr lvl="1"/>
            <a:r>
              <a:rPr lang="fr-FR" dirty="0"/>
              <a:t>Répartition in the </a:t>
            </a:r>
            <a:r>
              <a:rPr lang="fr-FR" dirty="0" err="1"/>
              <a:t>fields</a:t>
            </a:r>
            <a:r>
              <a:rPr lang="fr-FR" dirty="0"/>
              <a:t> of </a:t>
            </a:r>
            <a:r>
              <a:rPr lang="fr-FR" dirty="0" err="1"/>
              <a:t>education</a:t>
            </a:r>
            <a:endParaRPr lang="fr-FR" dirty="0"/>
          </a:p>
          <a:p>
            <a:pPr lvl="2"/>
            <a:r>
              <a:rPr lang="fr-FR" dirty="0"/>
              <a:t>E.g. % of the </a:t>
            </a:r>
            <a:r>
              <a:rPr lang="fr-FR" dirty="0" err="1"/>
              <a:t>students</a:t>
            </a:r>
            <a:r>
              <a:rPr lang="fr-FR" dirty="0"/>
              <a:t> </a:t>
            </a:r>
            <a:r>
              <a:rPr lang="fr-FR" dirty="0" err="1"/>
              <a:t>enrolled</a:t>
            </a:r>
            <a:r>
              <a:rPr lang="fr-FR" dirty="0"/>
              <a:t> in STEM</a:t>
            </a:r>
          </a:p>
        </p:txBody>
      </p:sp>
    </p:spTree>
    <p:extLst>
      <p:ext uri="{BB962C8B-B14F-4D97-AF65-F5344CB8AC3E}">
        <p14:creationId xmlns:p14="http://schemas.microsoft.com/office/powerpoint/2010/main" val="3860910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0B7C-A204-E610-594C-08DF4E6F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How to </a:t>
            </a:r>
            <a:r>
              <a:rPr lang="fi-FI" dirty="0" err="1"/>
              <a:t>measure</a:t>
            </a:r>
            <a:r>
              <a:rPr lang="fi-FI" dirty="0"/>
              <a:t> </a:t>
            </a:r>
            <a:r>
              <a:rPr lang="fi-FI" dirty="0" err="1"/>
              <a:t>educational</a:t>
            </a:r>
            <a:r>
              <a:rPr lang="fi-FI" dirty="0"/>
              <a:t> </a:t>
            </a:r>
            <a:r>
              <a:rPr lang="fi-FI" dirty="0" err="1"/>
              <a:t>inequalities</a:t>
            </a:r>
            <a:r>
              <a:rPr lang="fi-FI" dirty="0"/>
              <a:t>? (2)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2C619-E9C8-16D5-DE7F-7F19A9307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565"/>
            <a:ext cx="10515600" cy="5029200"/>
          </a:xfrm>
        </p:spPr>
        <p:txBody>
          <a:bodyPr>
            <a:normAutofit fontScale="85000" lnSpcReduction="20000"/>
          </a:bodyPr>
          <a:lstStyle/>
          <a:p>
            <a:r>
              <a:rPr lang="fi-FI" dirty="0"/>
              <a:t>Resources and </a:t>
            </a:r>
            <a:r>
              <a:rPr lang="fi-FI" dirty="0" err="1"/>
              <a:t>education</a:t>
            </a:r>
            <a:r>
              <a:rPr lang="fi-FI" dirty="0"/>
              <a:t> </a:t>
            </a:r>
            <a:r>
              <a:rPr lang="fi-FI" dirty="0" err="1"/>
              <a:t>quality</a:t>
            </a:r>
            <a:endParaRPr lang="fi-FI" dirty="0"/>
          </a:p>
          <a:p>
            <a:pPr lvl="1"/>
            <a:r>
              <a:rPr lang="fi-FI" dirty="0" err="1"/>
              <a:t>Pupil-teacher</a:t>
            </a:r>
            <a:r>
              <a:rPr lang="fi-FI" dirty="0"/>
              <a:t> </a:t>
            </a:r>
            <a:r>
              <a:rPr lang="fi-FI" dirty="0" err="1"/>
              <a:t>ratio</a:t>
            </a:r>
            <a:endParaRPr lang="fi-FI" dirty="0"/>
          </a:p>
          <a:p>
            <a:pPr lvl="1"/>
            <a:r>
              <a:rPr lang="fi-FI" dirty="0"/>
              <a:t>School </a:t>
            </a:r>
            <a:r>
              <a:rPr lang="fi-FI" dirty="0" err="1"/>
              <a:t>funding</a:t>
            </a:r>
            <a:r>
              <a:rPr lang="fi-FI" dirty="0"/>
              <a:t> per </a:t>
            </a:r>
            <a:r>
              <a:rPr lang="fi-FI" dirty="0" err="1"/>
              <a:t>student</a:t>
            </a:r>
            <a:endParaRPr lang="fi-FI" dirty="0"/>
          </a:p>
          <a:p>
            <a:pPr lvl="1"/>
            <a:r>
              <a:rPr lang="fi-FI" dirty="0"/>
              <a:t>School </a:t>
            </a:r>
            <a:r>
              <a:rPr lang="fi-FI" dirty="0" err="1"/>
              <a:t>infrastructure</a:t>
            </a:r>
            <a:endParaRPr lang="fi-FI" dirty="0"/>
          </a:p>
          <a:p>
            <a:pPr lvl="2"/>
            <a:r>
              <a:rPr lang="fi-FI" dirty="0"/>
              <a:t>E.g. </a:t>
            </a:r>
            <a:r>
              <a:rPr lang="fi-FI" dirty="0" err="1"/>
              <a:t>electricity</a:t>
            </a:r>
            <a:r>
              <a:rPr lang="fi-FI" dirty="0"/>
              <a:t>, </a:t>
            </a:r>
            <a:r>
              <a:rPr lang="fi-FI" dirty="0" err="1"/>
              <a:t>safety</a:t>
            </a:r>
            <a:endParaRPr lang="fi-FI" dirty="0"/>
          </a:p>
          <a:p>
            <a:r>
              <a:rPr lang="fi-FI" dirty="0" err="1"/>
              <a:t>Equity</a:t>
            </a:r>
            <a:r>
              <a:rPr lang="fi-FI" dirty="0"/>
              <a:t> </a:t>
            </a:r>
            <a:r>
              <a:rPr lang="fi-FI" dirty="0" err="1"/>
              <a:t>indicator</a:t>
            </a:r>
            <a:endParaRPr lang="fi-FI" dirty="0"/>
          </a:p>
          <a:p>
            <a:pPr lvl="1"/>
            <a:r>
              <a:rPr lang="fi-FI" dirty="0" err="1"/>
              <a:t>Disaggregation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indicators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gender</a:t>
            </a:r>
            <a:r>
              <a:rPr lang="fi-FI" dirty="0"/>
              <a:t>, </a:t>
            </a:r>
            <a:r>
              <a:rPr lang="fi-FI" dirty="0" err="1"/>
              <a:t>income</a:t>
            </a:r>
            <a:r>
              <a:rPr lang="fi-FI" dirty="0"/>
              <a:t>, </a:t>
            </a:r>
            <a:r>
              <a:rPr lang="fi-FI" dirty="0" err="1"/>
              <a:t>region</a:t>
            </a:r>
            <a:r>
              <a:rPr lang="fi-FI" dirty="0"/>
              <a:t>, </a:t>
            </a:r>
            <a:r>
              <a:rPr lang="fi-FI" dirty="0" err="1"/>
              <a:t>ethnicity</a:t>
            </a:r>
            <a:r>
              <a:rPr lang="fi-FI" dirty="0"/>
              <a:t>, </a:t>
            </a:r>
            <a:r>
              <a:rPr lang="fi-FI" dirty="0" err="1"/>
              <a:t>disability</a:t>
            </a:r>
            <a:r>
              <a:rPr lang="fi-FI" dirty="0"/>
              <a:t>, </a:t>
            </a:r>
            <a:r>
              <a:rPr lang="fi-FI" dirty="0" err="1"/>
              <a:t>language</a:t>
            </a:r>
            <a:r>
              <a:rPr lang="fi-FI" dirty="0"/>
              <a:t>, </a:t>
            </a:r>
            <a:r>
              <a:rPr lang="fi-FI" dirty="0" err="1"/>
              <a:t>migration</a:t>
            </a:r>
            <a:r>
              <a:rPr lang="fi-FI" dirty="0"/>
              <a:t> status…</a:t>
            </a:r>
          </a:p>
          <a:p>
            <a:pPr lvl="1"/>
            <a:r>
              <a:rPr lang="fi-FI" dirty="0"/>
              <a:t> </a:t>
            </a:r>
            <a:r>
              <a:rPr lang="fi-FI" dirty="0" err="1"/>
              <a:t>Rural</a:t>
            </a:r>
            <a:r>
              <a:rPr lang="fi-FI" dirty="0"/>
              <a:t> vs. </a:t>
            </a:r>
            <a:r>
              <a:rPr lang="fi-FI" dirty="0" err="1"/>
              <a:t>urban</a:t>
            </a:r>
            <a:r>
              <a:rPr lang="fi-FI" dirty="0"/>
              <a:t> </a:t>
            </a:r>
            <a:r>
              <a:rPr lang="fi-FI" dirty="0" err="1"/>
              <a:t>locations</a:t>
            </a:r>
            <a:endParaRPr lang="fi-FI" dirty="0"/>
          </a:p>
          <a:p>
            <a:r>
              <a:rPr lang="fi-FI" dirty="0" err="1"/>
              <a:t>Subject</a:t>
            </a:r>
            <a:r>
              <a:rPr lang="fi-FI" dirty="0"/>
              <a:t> </a:t>
            </a:r>
            <a:r>
              <a:rPr lang="fi-FI" dirty="0" err="1"/>
              <a:t>segregation</a:t>
            </a:r>
            <a:r>
              <a:rPr lang="fi-FI" dirty="0"/>
              <a:t> (</a:t>
            </a:r>
            <a:r>
              <a:rPr lang="fi-FI" dirty="0" err="1"/>
              <a:t>horizontal</a:t>
            </a:r>
            <a:r>
              <a:rPr lang="fi-FI" dirty="0"/>
              <a:t> </a:t>
            </a:r>
            <a:r>
              <a:rPr lang="fi-FI" dirty="0" err="1"/>
              <a:t>inequality</a:t>
            </a:r>
            <a:r>
              <a:rPr lang="fi-FI" dirty="0"/>
              <a:t>)</a:t>
            </a:r>
          </a:p>
          <a:p>
            <a:pPr lvl="1"/>
            <a:r>
              <a:rPr lang="fi-FI" dirty="0" err="1"/>
              <a:t>Gender</a:t>
            </a:r>
            <a:r>
              <a:rPr lang="fi-FI" dirty="0"/>
              <a:t> </a:t>
            </a:r>
            <a:r>
              <a:rPr lang="fi-FI" dirty="0" err="1"/>
              <a:t>distribution</a:t>
            </a:r>
            <a:r>
              <a:rPr lang="fi-FI" dirty="0"/>
              <a:t> </a:t>
            </a:r>
            <a:r>
              <a:rPr lang="fi-FI" dirty="0" err="1"/>
              <a:t>across</a:t>
            </a:r>
            <a:r>
              <a:rPr lang="fi-FI" dirty="0"/>
              <a:t> </a:t>
            </a:r>
            <a:r>
              <a:rPr lang="fi-FI" dirty="0" err="1"/>
              <a:t>academic</a:t>
            </a:r>
            <a:r>
              <a:rPr lang="fi-FI" dirty="0"/>
              <a:t> </a:t>
            </a:r>
            <a:r>
              <a:rPr lang="fi-FI" dirty="0" err="1"/>
              <a:t>fields</a:t>
            </a:r>
            <a:endParaRPr lang="fi-FI" dirty="0"/>
          </a:p>
          <a:p>
            <a:pPr lvl="1"/>
            <a:r>
              <a:rPr lang="fi-FI" dirty="0" err="1"/>
              <a:t>Vocational</a:t>
            </a:r>
            <a:r>
              <a:rPr lang="fi-FI" dirty="0"/>
              <a:t> vs. </a:t>
            </a:r>
            <a:r>
              <a:rPr lang="fi-FI" dirty="0" err="1"/>
              <a:t>academic</a:t>
            </a:r>
            <a:r>
              <a:rPr lang="fi-FI" dirty="0"/>
              <a:t> </a:t>
            </a:r>
            <a:r>
              <a:rPr lang="fi-FI" dirty="0" err="1"/>
              <a:t>tracking</a:t>
            </a:r>
            <a:endParaRPr lang="fi-FI" dirty="0"/>
          </a:p>
          <a:p>
            <a:r>
              <a:rPr lang="fi-FI" dirty="0" err="1"/>
              <a:t>Social</a:t>
            </a:r>
            <a:r>
              <a:rPr lang="fi-FI" dirty="0"/>
              <a:t> </a:t>
            </a:r>
            <a:r>
              <a:rPr lang="fi-FI" dirty="0" err="1"/>
              <a:t>mobility</a:t>
            </a:r>
            <a:endParaRPr lang="fi-FI" dirty="0"/>
          </a:p>
          <a:p>
            <a:pPr lvl="1"/>
            <a:r>
              <a:rPr lang="fi-FI" dirty="0" err="1"/>
              <a:t>Intergenerational</a:t>
            </a:r>
            <a:r>
              <a:rPr lang="fi-FI" dirty="0"/>
              <a:t> </a:t>
            </a:r>
            <a:r>
              <a:rPr lang="fi-FI" dirty="0" err="1"/>
              <a:t>education</a:t>
            </a:r>
            <a:r>
              <a:rPr lang="fi-FI" dirty="0"/>
              <a:t> </a:t>
            </a:r>
            <a:r>
              <a:rPr lang="fi-FI" dirty="0" err="1"/>
              <a:t>mobility</a:t>
            </a:r>
            <a:endParaRPr lang="fi-FI" dirty="0"/>
          </a:p>
          <a:p>
            <a:pPr lvl="2"/>
            <a:r>
              <a:rPr lang="fi-FI" dirty="0"/>
              <a:t>E.g. </a:t>
            </a:r>
            <a:r>
              <a:rPr lang="fi-FI" dirty="0" err="1"/>
              <a:t>how</a:t>
            </a:r>
            <a:r>
              <a:rPr lang="fi-FI" dirty="0"/>
              <a:t> </a:t>
            </a:r>
            <a:r>
              <a:rPr lang="fi-FI" dirty="0" err="1"/>
              <a:t>often</a:t>
            </a:r>
            <a:r>
              <a:rPr lang="fi-FI" dirty="0"/>
              <a:t> </a:t>
            </a:r>
            <a:r>
              <a:rPr lang="fi-FI" dirty="0" err="1"/>
              <a:t>children</a:t>
            </a:r>
            <a:r>
              <a:rPr lang="fi-FI" dirty="0"/>
              <a:t> </a:t>
            </a:r>
            <a:r>
              <a:rPr lang="fi-FI" dirty="0" err="1"/>
              <a:t>surpass</a:t>
            </a:r>
            <a:r>
              <a:rPr lang="fi-FI" dirty="0"/>
              <a:t> </a:t>
            </a:r>
            <a:r>
              <a:rPr lang="fi-FI" dirty="0" err="1"/>
              <a:t>their</a:t>
            </a:r>
            <a:r>
              <a:rPr lang="fi-FI" dirty="0"/>
              <a:t> </a:t>
            </a:r>
            <a:r>
              <a:rPr lang="fi-FI" dirty="0" err="1"/>
              <a:t>parents</a:t>
            </a:r>
            <a:r>
              <a:rPr lang="fi-FI" dirty="0"/>
              <a:t>’ </a:t>
            </a:r>
            <a:r>
              <a:rPr lang="fi-FI" dirty="0" err="1"/>
              <a:t>level</a:t>
            </a:r>
            <a:r>
              <a:rPr lang="fi-FI" dirty="0"/>
              <a:t> of </a:t>
            </a:r>
            <a:r>
              <a:rPr lang="fi-FI" dirty="0" err="1"/>
              <a:t>education</a:t>
            </a:r>
            <a:r>
              <a:rPr lang="fi-FI" dirty="0"/>
              <a:t>?</a:t>
            </a:r>
          </a:p>
          <a:p>
            <a:pPr lvl="2"/>
            <a:r>
              <a:rPr lang="fi-FI" dirty="0" err="1"/>
              <a:t>Retur</a:t>
            </a:r>
            <a:r>
              <a:rPr lang="fi-FI" dirty="0"/>
              <a:t> on </a:t>
            </a:r>
            <a:r>
              <a:rPr lang="fi-FI" dirty="0" err="1"/>
              <a:t>education</a:t>
            </a:r>
            <a:endParaRPr lang="fi-FI" dirty="0"/>
          </a:p>
          <a:p>
            <a:pPr lvl="3"/>
            <a:r>
              <a:rPr lang="fi-FI" dirty="0"/>
              <a:t>Labour market </a:t>
            </a:r>
            <a:r>
              <a:rPr lang="fi-FI" dirty="0" err="1"/>
              <a:t>outcomes</a:t>
            </a:r>
            <a:r>
              <a:rPr lang="fi-FI" dirty="0"/>
              <a:t> (e.g. </a:t>
            </a:r>
            <a:r>
              <a:rPr lang="fi-FI" dirty="0" err="1"/>
              <a:t>unemployment</a:t>
            </a:r>
            <a:r>
              <a:rPr lang="fi-FI" dirty="0"/>
              <a:t>, </a:t>
            </a:r>
            <a:r>
              <a:rPr lang="fi-FI" dirty="0" err="1"/>
              <a:t>income</a:t>
            </a:r>
            <a:r>
              <a:rPr lang="fi-FI" dirty="0"/>
              <a:t>) </a:t>
            </a:r>
            <a:r>
              <a:rPr lang="fi-FI" dirty="0" err="1"/>
              <a:t>stratified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education</a:t>
            </a:r>
            <a:r>
              <a:rPr lang="fi-FI" dirty="0"/>
              <a:t> </a:t>
            </a:r>
            <a:r>
              <a:rPr lang="fi-FI" dirty="0" err="1"/>
              <a:t>level</a:t>
            </a:r>
            <a:r>
              <a:rPr lang="fi-FI" dirty="0"/>
              <a:t> and </a:t>
            </a:r>
            <a:r>
              <a:rPr lang="fi-FI" dirty="0" err="1"/>
              <a:t>gender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5341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5745-5780-B98E-C8A0-633293D40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Any</a:t>
            </a:r>
            <a:r>
              <a:rPr lang="fi-FI" dirty="0"/>
              <a:t> </a:t>
            </a:r>
            <a:r>
              <a:rPr lang="fi-FI" dirty="0" err="1"/>
              <a:t>question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89D92-3422-4E98-C4F0-AA167043E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626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2475-BBA1-E390-7258-AC92FCD5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How to </a:t>
            </a:r>
            <a:r>
              <a:rPr lang="fi-FI" dirty="0" err="1"/>
              <a:t>read</a:t>
            </a:r>
            <a:r>
              <a:rPr lang="fi-FI" dirty="0"/>
              <a:t> a </a:t>
            </a:r>
            <a:r>
              <a:rPr lang="fi-FI" dirty="0" err="1"/>
              <a:t>scientific</a:t>
            </a:r>
            <a:r>
              <a:rPr lang="fi-FI" dirty="0"/>
              <a:t> </a:t>
            </a:r>
            <a:r>
              <a:rPr lang="fi-FI" dirty="0" err="1"/>
              <a:t>paper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9327-C413-82AA-0BEB-9BEF89E4A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205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80C3-C179-997E-19EE-40914A5E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What</a:t>
            </a:r>
            <a:r>
              <a:rPr lang="fi-FI" dirty="0"/>
              <a:t> to </a:t>
            </a:r>
            <a:r>
              <a:rPr lang="fi-FI" dirty="0" err="1"/>
              <a:t>draw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a </a:t>
            </a:r>
            <a:r>
              <a:rPr lang="fi-FI" dirty="0" err="1"/>
              <a:t>paper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4B486-EC5F-537E-DF30-AC76C3F6E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/>
              <a:t>Basic </a:t>
            </a:r>
            <a:r>
              <a:rPr lang="fi-FI" dirty="0" err="1"/>
              <a:t>information</a:t>
            </a:r>
            <a:r>
              <a:rPr lang="fi-FI" dirty="0"/>
              <a:t>: </a:t>
            </a:r>
            <a:r>
              <a:rPr lang="fi-FI" dirty="0" err="1"/>
              <a:t>author</a:t>
            </a:r>
            <a:r>
              <a:rPr lang="fi-FI" dirty="0"/>
              <a:t>, </a:t>
            </a:r>
            <a:r>
              <a:rPr lang="fi-FI" dirty="0" err="1"/>
              <a:t>journal</a:t>
            </a:r>
            <a:r>
              <a:rPr lang="fi-FI" dirty="0"/>
              <a:t>, </a:t>
            </a:r>
            <a:r>
              <a:rPr lang="fi-FI" dirty="0" err="1"/>
              <a:t>date</a:t>
            </a:r>
            <a:r>
              <a:rPr lang="fi-FI" dirty="0"/>
              <a:t>, </a:t>
            </a:r>
            <a:r>
              <a:rPr lang="fi-FI" dirty="0" err="1"/>
              <a:t>number</a:t>
            </a:r>
            <a:r>
              <a:rPr lang="fi-FI" dirty="0"/>
              <a:t> of </a:t>
            </a:r>
            <a:r>
              <a:rPr lang="fi-FI" dirty="0" err="1"/>
              <a:t>citations</a:t>
            </a:r>
            <a:endParaRPr lang="fi-FI" dirty="0"/>
          </a:p>
          <a:p>
            <a:r>
              <a:rPr lang="fi-FI" dirty="0" err="1"/>
              <a:t>Context</a:t>
            </a:r>
            <a:r>
              <a:rPr lang="fi-FI" dirty="0"/>
              <a:t>: </a:t>
            </a:r>
          </a:p>
          <a:p>
            <a:pPr lvl="1"/>
            <a:r>
              <a:rPr lang="fi-FI" dirty="0"/>
              <a:t>Place, </a:t>
            </a:r>
            <a:r>
              <a:rPr lang="fi-FI" dirty="0" err="1"/>
              <a:t>time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study</a:t>
            </a:r>
            <a:endParaRPr lang="fi-FI" dirty="0"/>
          </a:p>
          <a:p>
            <a:pPr lvl="1"/>
            <a:r>
              <a:rPr lang="fi-FI" dirty="0" err="1"/>
              <a:t>What</a:t>
            </a:r>
            <a:r>
              <a:rPr lang="fi-FI" dirty="0"/>
              <a:t> is </a:t>
            </a:r>
            <a:r>
              <a:rPr lang="fi-FI" dirty="0" err="1"/>
              <a:t>known</a:t>
            </a:r>
            <a:r>
              <a:rPr lang="fi-FI" dirty="0"/>
              <a:t> </a:t>
            </a:r>
            <a:r>
              <a:rPr lang="fi-FI" dirty="0" err="1"/>
              <a:t>already</a:t>
            </a:r>
            <a:r>
              <a:rPr lang="fi-FI" dirty="0"/>
              <a:t>?</a:t>
            </a:r>
          </a:p>
          <a:p>
            <a:pPr lvl="1"/>
            <a:r>
              <a:rPr lang="fi-FI" dirty="0" err="1"/>
              <a:t>What</a:t>
            </a:r>
            <a:r>
              <a:rPr lang="fi-FI" dirty="0"/>
              <a:t> </a:t>
            </a:r>
            <a:r>
              <a:rPr lang="fi-FI" dirty="0" err="1"/>
              <a:t>type</a:t>
            </a:r>
            <a:r>
              <a:rPr lang="fi-FI" dirty="0"/>
              <a:t> of </a:t>
            </a:r>
            <a:r>
              <a:rPr lang="fi-FI" dirty="0" err="1"/>
              <a:t>study</a:t>
            </a:r>
            <a:r>
              <a:rPr lang="fi-FI" dirty="0"/>
              <a:t>: </a:t>
            </a:r>
            <a:r>
              <a:rPr lang="fi-FI" dirty="0" err="1"/>
              <a:t>review</a:t>
            </a:r>
            <a:r>
              <a:rPr lang="fi-FI" dirty="0"/>
              <a:t>, </a:t>
            </a:r>
            <a:r>
              <a:rPr lang="fi-FI" dirty="0" err="1"/>
              <a:t>quantitative</a:t>
            </a:r>
            <a:r>
              <a:rPr lang="fi-FI" dirty="0"/>
              <a:t>, </a:t>
            </a:r>
            <a:r>
              <a:rPr lang="fi-FI" dirty="0" err="1"/>
              <a:t>qualitative</a:t>
            </a:r>
            <a:r>
              <a:rPr lang="fi-FI" dirty="0"/>
              <a:t> </a:t>
            </a:r>
            <a:r>
              <a:rPr lang="fi-FI" dirty="0" err="1"/>
              <a:t>study</a:t>
            </a:r>
            <a:r>
              <a:rPr lang="fi-FI" dirty="0"/>
              <a:t>?</a:t>
            </a:r>
          </a:p>
          <a:p>
            <a:r>
              <a:rPr lang="fi-FI" dirty="0"/>
              <a:t>Research </a:t>
            </a:r>
            <a:r>
              <a:rPr lang="fi-FI" dirty="0" err="1"/>
              <a:t>question</a:t>
            </a:r>
            <a:r>
              <a:rPr lang="fi-FI" dirty="0"/>
              <a:t> and </a:t>
            </a:r>
            <a:r>
              <a:rPr lang="fi-FI" dirty="0" err="1"/>
              <a:t>hypotheses</a:t>
            </a:r>
            <a:endParaRPr lang="fi-FI" dirty="0"/>
          </a:p>
          <a:p>
            <a:r>
              <a:rPr lang="fr-FR" dirty="0"/>
              <a:t>Data and </a:t>
            </a:r>
            <a:r>
              <a:rPr lang="fr-FR" dirty="0" err="1"/>
              <a:t>methods</a:t>
            </a:r>
            <a:endParaRPr lang="fr-FR" dirty="0"/>
          </a:p>
          <a:p>
            <a:r>
              <a:rPr lang="fr-FR" dirty="0" err="1"/>
              <a:t>Results</a:t>
            </a:r>
            <a:endParaRPr lang="fr-FR" dirty="0"/>
          </a:p>
          <a:p>
            <a:r>
              <a:rPr lang="fr-FR" dirty="0"/>
              <a:t>Limitations and conclusion</a:t>
            </a:r>
          </a:p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bring</a:t>
            </a:r>
            <a:r>
              <a:rPr lang="fr-FR" dirty="0"/>
              <a:t> to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paper</a:t>
            </a:r>
            <a:r>
              <a:rPr lang="fr-FR" dirty="0"/>
              <a:t>?</a:t>
            </a:r>
          </a:p>
          <a:p>
            <a:pPr lvl="1"/>
            <a:r>
              <a:rPr lang="fr-FR" dirty="0" err="1"/>
              <a:t>Indicates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missing</a:t>
            </a:r>
            <a:r>
              <a:rPr lang="fr-FR" dirty="0"/>
              <a:t> in the </a:t>
            </a:r>
            <a:r>
              <a:rPr lang="fr-FR" dirty="0" err="1"/>
              <a:t>literature</a:t>
            </a:r>
            <a:r>
              <a:rPr lang="fr-FR" dirty="0"/>
              <a:t> (how can </a:t>
            </a:r>
            <a:r>
              <a:rPr lang="fr-FR" dirty="0" err="1"/>
              <a:t>you</a:t>
            </a:r>
            <a:r>
              <a:rPr lang="fr-FR" dirty="0"/>
              <a:t> go one 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further</a:t>
            </a:r>
            <a:r>
              <a:rPr lang="fr-FR" dirty="0"/>
              <a:t>?)</a:t>
            </a:r>
          </a:p>
          <a:p>
            <a:pPr lvl="1"/>
            <a:r>
              <a:rPr lang="fr-FR" dirty="0" err="1"/>
              <a:t>Helps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formulate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questions and </a:t>
            </a:r>
            <a:r>
              <a:rPr lang="fr-FR" dirty="0" err="1"/>
              <a:t>methods</a:t>
            </a:r>
            <a:endParaRPr lang="fr-FR" dirty="0"/>
          </a:p>
          <a:p>
            <a:pPr lvl="1"/>
            <a:r>
              <a:rPr lang="fr-FR" dirty="0" err="1"/>
              <a:t>Helps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interpret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results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2402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53D41-9695-16A0-4DAF-E2BEDAEE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Difficulties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9573F-A542-FC94-B51F-13A738945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611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2475-BBA1-E390-7258-AC92FCD5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Ideas</a:t>
            </a:r>
            <a:r>
              <a:rPr lang="fi-FI" dirty="0"/>
              <a:t> for </a:t>
            </a:r>
            <a:r>
              <a:rPr lang="fi-FI" dirty="0" err="1"/>
              <a:t>research</a:t>
            </a:r>
            <a:r>
              <a:rPr lang="fi-FI" dirty="0"/>
              <a:t> </a:t>
            </a:r>
            <a:r>
              <a:rPr lang="fi-FI" dirty="0" err="1"/>
              <a:t>questions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9327-C413-82AA-0BEB-9BEF89E4A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1674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CB6D-CCE8-EEC8-FEB3-7B65F279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Any</a:t>
            </a:r>
            <a:r>
              <a:rPr lang="fi-FI" dirty="0"/>
              <a:t> </a:t>
            </a:r>
            <a:r>
              <a:rPr lang="fi-FI" dirty="0" err="1"/>
              <a:t>ideas</a:t>
            </a:r>
            <a:r>
              <a:rPr lang="fi-FI" dirty="0"/>
              <a:t>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42C1-AD22-49F0-0B3F-EBAF750EF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Gender</a:t>
            </a:r>
            <a:r>
              <a:rPr lang="fi-FI" dirty="0"/>
              <a:t> </a:t>
            </a:r>
            <a:r>
              <a:rPr lang="fi-FI" dirty="0" err="1"/>
              <a:t>inequality</a:t>
            </a:r>
            <a:r>
              <a:rPr lang="fi-FI" dirty="0"/>
              <a:t> in STEM</a:t>
            </a:r>
          </a:p>
          <a:p>
            <a:r>
              <a:rPr lang="fi-FI" dirty="0" err="1"/>
              <a:t>What</a:t>
            </a:r>
            <a:r>
              <a:rPr lang="fi-FI" dirty="0"/>
              <a:t> I </a:t>
            </a:r>
            <a:r>
              <a:rPr lang="fi-FI" dirty="0" err="1"/>
              <a:t>identified</a:t>
            </a:r>
            <a:r>
              <a:rPr lang="fi-FI" dirty="0"/>
              <a:t> as </a:t>
            </a:r>
            <a:r>
              <a:rPr lang="fi-FI" dirty="0" err="1"/>
              <a:t>missing</a:t>
            </a:r>
            <a:r>
              <a:rPr lang="fi-FI" dirty="0"/>
              <a:t> (</a:t>
            </a:r>
            <a:r>
              <a:rPr lang="fi-FI" dirty="0" err="1"/>
              <a:t>suggestions</a:t>
            </a:r>
            <a:r>
              <a:rPr lang="fi-FI" dirty="0"/>
              <a:t>)</a:t>
            </a:r>
          </a:p>
          <a:p>
            <a:pPr lvl="1"/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effect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pandemic</a:t>
            </a:r>
            <a:r>
              <a:rPr lang="fi-FI" dirty="0"/>
              <a:t>?</a:t>
            </a:r>
          </a:p>
          <a:p>
            <a:pPr lvl="1"/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intergenerational</a:t>
            </a:r>
            <a:r>
              <a:rPr lang="fi-FI" dirty="0"/>
              <a:t> </a:t>
            </a:r>
            <a:r>
              <a:rPr lang="fi-FI" dirty="0" err="1"/>
              <a:t>aspect</a:t>
            </a:r>
            <a:r>
              <a:rPr lang="fi-FI" dirty="0"/>
              <a:t>?</a:t>
            </a:r>
          </a:p>
          <a:p>
            <a:r>
              <a:rPr lang="fi-FI" dirty="0" err="1"/>
              <a:t>What</a:t>
            </a:r>
            <a:r>
              <a:rPr lang="fi-FI" dirty="0"/>
              <a:t> </a:t>
            </a:r>
            <a:r>
              <a:rPr lang="fi-FI" dirty="0" err="1"/>
              <a:t>else</a:t>
            </a:r>
            <a:r>
              <a:rPr lang="fi-FI" dirty="0"/>
              <a:t> </a:t>
            </a:r>
            <a:r>
              <a:rPr lang="fi-FI" dirty="0" err="1"/>
              <a:t>could</a:t>
            </a:r>
            <a:r>
              <a:rPr lang="fi-FI" dirty="0"/>
              <a:t> 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identify</a:t>
            </a:r>
            <a:r>
              <a:rPr lang="fi-FI" dirty="0"/>
              <a:t>?</a:t>
            </a:r>
          </a:p>
          <a:p>
            <a:endParaRPr lang="fi-FI" dirty="0"/>
          </a:p>
          <a:p>
            <a:r>
              <a:rPr lang="fi-FI" dirty="0" err="1"/>
              <a:t>Quali</a:t>
            </a:r>
            <a:r>
              <a:rPr lang="fi-FI" dirty="0"/>
              <a:t>, </a:t>
            </a:r>
            <a:r>
              <a:rPr lang="fi-FI" dirty="0" err="1"/>
              <a:t>quanti</a:t>
            </a:r>
            <a:r>
              <a:rPr lang="fi-FI" dirty="0"/>
              <a:t>, </a:t>
            </a:r>
            <a:r>
              <a:rPr lang="fi-FI" dirty="0" err="1"/>
              <a:t>literature</a:t>
            </a:r>
            <a:r>
              <a:rPr lang="fi-FI" dirty="0"/>
              <a:t> </a:t>
            </a:r>
            <a:r>
              <a:rPr lang="fi-FI" dirty="0" err="1"/>
              <a:t>review</a:t>
            </a:r>
            <a:r>
              <a:rPr lang="fi-FI" dirty="0"/>
              <a:t>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8444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1004</Words>
  <Application>Microsoft Office PowerPoint</Application>
  <PresentationFormat>Widescreen</PresentationFormat>
  <Paragraphs>123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MuseoSansRounded</vt:lpstr>
      <vt:lpstr>Wingdings</vt:lpstr>
      <vt:lpstr>Office Theme</vt:lpstr>
      <vt:lpstr>Lumière; week 2</vt:lpstr>
      <vt:lpstr>Our topic: </vt:lpstr>
      <vt:lpstr>Education and social inequality</vt:lpstr>
      <vt:lpstr>Stratification within education systems</vt:lpstr>
      <vt:lpstr>Factors of access to education</vt:lpstr>
      <vt:lpstr>Meritocracy: a myth</vt:lpstr>
      <vt:lpstr>Gender and education, some persistent inequalities</vt:lpstr>
      <vt:lpstr>PowerPoint Presentation</vt:lpstr>
      <vt:lpstr>PowerPoint Presentation</vt:lpstr>
      <vt:lpstr>Gender inequalities in education: some factors</vt:lpstr>
      <vt:lpstr>How to measure educational inequalities?</vt:lpstr>
      <vt:lpstr>How to measure educational inequalities? (2)</vt:lpstr>
      <vt:lpstr>Any question?</vt:lpstr>
      <vt:lpstr>How to read a scientific paper?</vt:lpstr>
      <vt:lpstr>What to draw from a paper?</vt:lpstr>
      <vt:lpstr>Difficulties?</vt:lpstr>
      <vt:lpstr>Ideas for research questions?</vt:lpstr>
      <vt:lpstr>Any ideas?</vt:lpstr>
    </vt:vector>
  </TitlesOfParts>
  <Company>University of Helsinki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 Jany Damiens</dc:creator>
  <cp:lastModifiedBy>Joan Jany Damiens</cp:lastModifiedBy>
  <cp:revision>1</cp:revision>
  <dcterms:created xsi:type="dcterms:W3CDTF">2025-06-02T05:52:19Z</dcterms:created>
  <dcterms:modified xsi:type="dcterms:W3CDTF">2025-06-02T08:29:11Z</dcterms:modified>
</cp:coreProperties>
</file>